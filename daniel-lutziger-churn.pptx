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58"/>
  </p:normalViewPr>
  <p:slideViewPr>
    <p:cSldViewPr snapToGrid="0">
      <p:cViewPr varScale="1">
        <p:scale>
          <a:sx n="120" d="100"/>
          <a:sy n="120" d="100"/>
        </p:scale>
        <p:origin x="5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Leavers</c:v>
                </c:pt>
              </c:strCache>
            </c:strRef>
          </c:tx>
          <c:spPr>
            <a:solidFill>
              <a:srgbClr val="E8A33D"/>
            </a:solidFill>
            <a:effectLst/>
          </c:spPr>
          <c:invertIfNegative val="0"/>
          <c:dPt>
            <c:idx val="0"/>
            <c:invertIfNegative val="0"/>
            <c:bubble3D val="0"/>
            <c:extLst>
              <c:ext xmlns:c16="http://schemas.microsoft.com/office/drawing/2014/chart" uri="{C3380CC4-5D6E-409C-BE32-E72D297353CC}">
                <c16:uniqueId val="{00000000-22E6-4F65-A4DE-3472C8B0F59B}"/>
              </c:ext>
            </c:extLst>
          </c:dPt>
          <c:dPt>
            <c:idx val="1"/>
            <c:invertIfNegative val="0"/>
            <c:bubble3D val="0"/>
            <c:spPr>
              <a:solidFill>
                <a:srgbClr val="B8C0D4"/>
              </a:solidFill>
              <a:effectLst/>
            </c:spPr>
            <c:extLst>
              <c:ext xmlns:c16="http://schemas.microsoft.com/office/drawing/2014/chart" uri="{C3380CC4-5D6E-409C-BE32-E72D297353CC}">
                <c16:uniqueId val="{00000002-22E6-4F65-A4DE-3472C8B0F59B}"/>
              </c:ext>
            </c:extLst>
          </c:dPt>
          <c:dLbls>
            <c:numFmt formatCode="#,##0" sourceLinked="0"/>
            <c:spPr>
              <a:noFill/>
              <a:ln>
                <a:noFill/>
              </a:ln>
              <a:effectLst/>
            </c:spPr>
            <c:txPr>
              <a:bodyPr/>
              <a:lstStyle/>
              <a:p>
                <a:pPr>
                  <a:defRPr sz="1500" b="1" i="0" u="none" strike="noStrike">
                    <a:solidFill>
                      <a:srgbClr val="1E2761"/>
                    </a:solidFill>
                    <a:latin typeface="Calibri"/>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Model's top list</c:v>
                </c:pt>
                <c:pt idx="1">
                  <c:v>Random pick</c:v>
                </c:pt>
              </c:strCache>
            </c:strRef>
          </c:cat>
          <c:val>
            <c:numRef>
              <c:f>Sheet1!$B$2:$B$3</c:f>
              <c:numCache>
                <c:formatCode>General</c:formatCode>
                <c:ptCount val="2"/>
                <c:pt idx="0">
                  <c:v>77</c:v>
                </c:pt>
                <c:pt idx="1">
                  <c:v>27</c:v>
                </c:pt>
              </c:numCache>
            </c:numRef>
          </c:val>
          <c:extLst>
            <c:ext xmlns:c16="http://schemas.microsoft.com/office/drawing/2014/chart" uri="{C3380CC4-5D6E-409C-BE32-E72D297353CC}">
              <c16:uniqueId val="{00000000-2117-F946-BE60-18924CA5F2C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F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Leave rate %</c:v>
                </c:pt>
              </c:strCache>
            </c:strRef>
          </c:tx>
          <c:spPr>
            <a:solidFill>
              <a:srgbClr val="E8A33D"/>
            </a:solidFill>
            <a:effectLst/>
          </c:spPr>
          <c:invertIfNegative val="0"/>
          <c:dPt>
            <c:idx val="0"/>
            <c:invertIfNegative val="0"/>
            <c:bubble3D val="0"/>
            <c:extLst>
              <c:ext xmlns:c16="http://schemas.microsoft.com/office/drawing/2014/chart" uri="{C3380CC4-5D6E-409C-BE32-E72D297353CC}">
                <c16:uniqueId val="{00000000-85E8-4CF0-98BD-506F9366862E}"/>
              </c:ext>
            </c:extLst>
          </c:dPt>
          <c:dPt>
            <c:idx val="1"/>
            <c:invertIfNegative val="0"/>
            <c:bubble3D val="0"/>
            <c:extLst>
              <c:ext xmlns:c16="http://schemas.microsoft.com/office/drawing/2014/chart" uri="{C3380CC4-5D6E-409C-BE32-E72D297353CC}">
                <c16:uniqueId val="{00000001-85E8-4CF0-98BD-506F9366862E}"/>
              </c:ext>
            </c:extLst>
          </c:dPt>
          <c:dPt>
            <c:idx val="2"/>
            <c:invertIfNegative val="0"/>
            <c:bubble3D val="0"/>
            <c:extLst>
              <c:ext xmlns:c16="http://schemas.microsoft.com/office/drawing/2014/chart" uri="{C3380CC4-5D6E-409C-BE32-E72D297353CC}">
                <c16:uniqueId val="{00000002-85E8-4CF0-98BD-506F9366862E}"/>
              </c:ext>
            </c:extLst>
          </c:dPt>
          <c:dPt>
            <c:idx val="3"/>
            <c:invertIfNegative val="0"/>
            <c:bubble3D val="0"/>
            <c:extLst>
              <c:ext xmlns:c16="http://schemas.microsoft.com/office/drawing/2014/chart" uri="{C3380CC4-5D6E-409C-BE32-E72D297353CC}">
                <c16:uniqueId val="{00000003-85E8-4CF0-98BD-506F9366862E}"/>
              </c:ext>
            </c:extLst>
          </c:dPt>
          <c:dPt>
            <c:idx val="4"/>
            <c:invertIfNegative val="0"/>
            <c:bubble3D val="0"/>
            <c:spPr>
              <a:solidFill>
                <a:srgbClr val="1E2761"/>
              </a:solidFill>
              <a:effectLst/>
            </c:spPr>
            <c:extLst>
              <c:ext xmlns:c16="http://schemas.microsoft.com/office/drawing/2014/chart" uri="{C3380CC4-5D6E-409C-BE32-E72D297353CC}">
                <c16:uniqueId val="{00000005-85E8-4CF0-98BD-506F9366862E}"/>
              </c:ext>
            </c:extLst>
          </c:dPt>
          <c:dLbls>
            <c:numFmt formatCode="#,##0" sourceLinked="0"/>
            <c:spPr>
              <a:noFill/>
              <a:ln>
                <a:noFill/>
              </a:ln>
              <a:effectLst/>
            </c:spPr>
            <c:txPr>
              <a:bodyPr/>
              <a:lstStyle/>
              <a:p>
                <a:pPr>
                  <a:defRPr sz="1200" b="1" i="0" u="none" strike="noStrike">
                    <a:solidFill>
                      <a:srgbClr val="1E2761"/>
                    </a:solidFill>
                    <a:latin typeface="Calibri"/>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Electronic check</c:v>
                </c:pt>
                <c:pt idx="1">
                  <c:v>Month-to-month</c:v>
                </c:pt>
                <c:pt idx="2">
                  <c:v>No tech support</c:v>
                </c:pt>
                <c:pt idx="3">
                  <c:v>Fiber optic</c:v>
                </c:pt>
                <c:pt idx="4">
                  <c:v>Company average</c:v>
                </c:pt>
              </c:strCache>
            </c:strRef>
          </c:cat>
          <c:val>
            <c:numRef>
              <c:f>Sheet1!$B$2:$B$6</c:f>
              <c:numCache>
                <c:formatCode>General</c:formatCode>
                <c:ptCount val="5"/>
                <c:pt idx="0">
                  <c:v>45</c:v>
                </c:pt>
                <c:pt idx="1">
                  <c:v>43</c:v>
                </c:pt>
                <c:pt idx="2">
                  <c:v>42</c:v>
                </c:pt>
                <c:pt idx="3">
                  <c:v>42</c:v>
                </c:pt>
                <c:pt idx="4">
                  <c:v>27</c:v>
                </c:pt>
              </c:numCache>
            </c:numRef>
          </c:val>
          <c:extLst>
            <c:ext xmlns:c16="http://schemas.microsoft.com/office/drawing/2014/chart" uri="{C3380CC4-5D6E-409C-BE32-E72D297353CC}">
              <c16:uniqueId val="{00000000-544A-4440-98DB-6F4C6B0FA91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F3A"/>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65320-8B45-410B-BA24-D5EBCE8E6ECF}" type="datetimeFigureOut">
              <a:rPr lang="de-CH" smtClean="0"/>
              <a:t>18.06.26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1BB6F6-55F9-4630-8E64-93D9E0063F68}" type="slidenum">
              <a:rPr lang="de-CH" smtClean="0"/>
              <a:t>‹#›</a:t>
            </a:fld>
            <a:endParaRPr lang="de-CH"/>
          </a:p>
        </p:txBody>
      </p:sp>
    </p:spTree>
    <p:extLst>
      <p:ext uri="{BB962C8B-B14F-4D97-AF65-F5344CB8AC3E}">
        <p14:creationId xmlns:p14="http://schemas.microsoft.com/office/powerpoint/2010/main" val="217987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I told you that by the end of this meeting, we will have a way to keep three times as many of the customers who are about to leave us? That is what I want to show you today.
Welcome - this is a short talk churn, customers leaving, what can actually do
start with the problem, money problem. getting new customer is expensive - marketing, onboarding, the first discounts, all of it. </a:t>
            </a:r>
          </a:p>
          <a:p>
            <a:r>
              <a:rPr lang="en-US" dirty="0"/>
              <a:t>customer profitable been with us a while. </a:t>
            </a:r>
          </a:p>
          <a:p>
            <a:r>
              <a:rPr lang="en-US" dirty="0"/>
              <a:t>leaves early, paid to bring in, lose them before pay back. </a:t>
            </a:r>
          </a:p>
          <a:p>
            <a:r>
              <a:rPr lang="en-US" dirty="0"/>
              <a:t>Every one of those is money straight off the table.
right now, ¼ customers leaves. lot of money walking out the door every quarter.
question not whether churn problem - we know it is. </a:t>
            </a:r>
          </a:p>
          <a:p>
            <a:r>
              <a:rPr lang="en-US" dirty="0"/>
              <a:t>question is: can we see coming, can do something before go? </a:t>
            </a:r>
          </a:p>
          <a:p>
            <a:endParaRPr lang="en-US" dirty="0"/>
          </a:p>
          <a:p>
            <a:r>
              <a:rPr lang="en-US" dirty="0"/>
              <a:t>That is exactly what I will walk through. First, what we built and the value it gives us. Then why customers actually leave. And finally, the concrete things I would do to keep more of them and make us more profitable. Let us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us start with what we built, and why it matters.
The idea is simple. Instead of treating every customer the same, we built a model that looks at each customer and gives them a score - how likely they are to leave us next quarter. Then we sort everyone from most likely to leave down to least likely. So we get a ranked list, with the customers most at risk right at the top.
Why does that matter? Because today, when we run a retention campaign, we are mostly guessing who to contact. We might message everyone, which is expensive, or pick people more or less at random. With this list, we contact the people who are actually about to leave first.
Let me show you how much better that is. Look at the chart on the right. Imagine we contact 100 customers. If we take them from the top of the model list, about 77 of those 100 would really have left us. If we just picked 100 customers at random, only about 27 would have been real leavers. So we find almost three times as many of the right people. That is the three-times number from the start.
In practice, that means we stop wasting offers on people who were never going to leave, and we put them in front of the people who actually need a reason to stay.
One more important point: we do not have to contact the whole list. We start at the top and go down as far as the budget allows. And there is a sweet spot. The first people are very likely to leave, so an offer there is well spent. Further down, we start spending offers on people who would have stayed anyway, and at some point each extra offer costs more than it saves. So we can tell you the best number of customers to contact, once we know what an offer costs and what a customer is worth.
And for the technical folks - the model ranks who is more likely to leave correctly about 84 times out of 100, which is strong for this kind of problem. But the number that matters for the business is the one on the screen: three times more of the right customers.
So that is the value. Next, let us look at why customers are actually leaving, because that is where the money-saving actions come from.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customers leave? This is the part that tells us what to actually fix.
Before the reasons, one thing about trust. I did not just take the model word for it. I checked the reasons two completely different ways - once by looking at the raw data directly, and once by asking the model what it leans on. Both gave me the same answer. So I am confident these are real drivers, not the model making things up.
Here is what came out, and the chart shows it. The bars are the share of customers who leave, for each group. The dark bar is our company average - about 26%, roughly one in four.
The single biggest reason is the contract. Customers on a month-to-month contract leave at a much higher rate, while customers locked into a one or two year contract almost never leave. That makes sense - if you can walk away any time, you are far more likely to. This is by far the strongest signal.
The second one is how new the customer is. Most of our churn happens in the first few months. People sign up, and a big chunk of them are gone before they ever settle in. Once they have been with us a while, they tend to stay.
Third, fiber. Customers on our fiber product leave at 42%, while customers on DSL leave at only 19%. That is a big gap, and it is a red flag - something about the fiber offer, the price or the service, is pushing people away.
And fourth, the way people pay. Customers who pay by electronic check leave the most, about 45%. The ones on automatic payment leave far less. Paying by check every time is friction, and friction is a reason to leave.
Put it all together and you get a picture of a typical at-risk customer - it is on the right. Month-to-month contract, fairly new, on fiber, paying by electronic check, and without the extra services like tech support. When I see a customer like that, the model and I both expect them to leave.
And here is the good news - every one of these is something we can act on. None of it is the customer is just unhappy and there is nothing we can do. It is contract type, onboarding, a product issue, a payment method. All fixable. Which brings me to the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I would actually do. Five things, roughly in order of how much they would move the needle.
Number one, the big one: get our month-to-month customers onto yearly contracts. We saw that locked-in customers barely leave. So if we give the at-risk month-to-month customers a good reason to commit - a small discount, a better deal for signing up for a year - we turn our highest-risk group into our safest one. This is the single biggest lever we have.
Number two: look into fiber. We cannot ignore a product that loses 42% of its customers when the alternative loses 19%. I am not saying I know the cause yet - it could be price, service quality, or expectations. But it is clearly worth a proper look, because it is a lot of customers.
Number three: move the electronic-check payers onto automatic payment. This one is relatively easy. Paying by check every month is a hassle, and those customers leave the most. If we make it easy to switch to card or bank auto-pay, we take that friction away.
Number four: take better care of new customers in their first few months. That is when most people leave. Better onboarding, a check-in, some early attention - catching people before they drift off is much cheaper than winning them back later.
And number five, a bit different but important. When we run a campaign, I would hold back a small group of at-risk customers we deliberately do not contact. Why? So we can compare. If the customers we contacted stay more than the ones we did not, we have proven the campaign works, and we can put a real number on how much money it saved. Without that comparison we are guessing whether our efforts did anything. It also tells us how well the offers actually work, which feeds straight back into how big to make the next campaign.
So that is the plan. The first four are the actions, and the fifth is how we prove they are worth it. Together, this is how we go from knowing who is leaving to actually keeping more of them, and showing the savings.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it together. We started with a simple promise - keeping three times as many of our leaving customers. Here is how we get there.
We can already find three out of every four leavers on our top list. We know the main reasons they go, and we know they are all things we can fix. And we have a clear set of actions to do it.
The next step I would suggest is simple: let us try it on the very next retention campaign. We use the model to pick who to contact, we keep that small control group so we can measure the result properly, and we look at the outcome in money - how much we saved - not just in model accuracy. Then we keep the model fresh by updating it every quarter as new results come in.
That is it from me.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7B9D78-988D-DF73-4004-2A225145EA4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E6A2209A-99D8-C0B7-F01E-C80150CA93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FF3BD168-F77E-AE4D-511F-40834846A51C}"/>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51BE893B-8FAD-CD0E-CA1D-5A2405FA3518}"/>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FDD0518-DE11-6A07-9428-570A6118BBC5}"/>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362826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A32CB5-0FEF-1ADF-EC0C-A9192D62BB5B}"/>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9DC1D693-43F5-6781-4AB1-ED0675EC9ED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D47BFB5D-6DB1-9969-555C-39A2A6A33773}"/>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325EF769-28E9-0024-56D2-1264F82B37EE}"/>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2EE724D2-AFFB-44B6-4D4B-4B7641DB7792}"/>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348080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D4CD70-A805-D87B-F977-F1108AF4D1B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857D0638-3F9B-E0A3-E6C7-93DE8DCEBE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C95E5A16-E443-4B72-2C47-8A3F87DC85A3}"/>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5FCA08F8-D8FC-9570-23F9-51D19F5C98BD}"/>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83AFFC7-9036-CB88-535E-3CF5572934DF}"/>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2662396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684501-1C53-96C0-E1A1-3D2A4BE2D52F}"/>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51E5E6F7-613B-50AB-4FD7-DF7332E3A96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47A2154E-C43C-1AAD-E627-FB3C56A8BA9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F929FE75-3B2D-0C3C-D6A7-9546F59AE1C9}"/>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6" name="Fußzeilenplatzhalter 5">
            <a:extLst>
              <a:ext uri="{FF2B5EF4-FFF2-40B4-BE49-F238E27FC236}">
                <a16:creationId xmlns:a16="http://schemas.microsoft.com/office/drawing/2014/main" id="{72AD077F-3F3E-C4C0-F882-948B548F4090}"/>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25453C23-9135-62E8-2765-00DD684B8CA8}"/>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1476420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C3BE1C-173D-2CDF-FBD9-039851B69219}"/>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F9CF739C-FCBF-559A-976B-BB684394A1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06CD0C4-DE0D-8C0A-B885-0F74FD9E3C35}"/>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C947B5B9-C51C-C207-4365-97EFA1A410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92DAE84C-3197-E178-5A51-527BA7BFF43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83BC5DFF-9E7C-3CC2-F266-CC5407C638F3}"/>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8" name="Fußzeilenplatzhalter 7">
            <a:extLst>
              <a:ext uri="{FF2B5EF4-FFF2-40B4-BE49-F238E27FC236}">
                <a16:creationId xmlns:a16="http://schemas.microsoft.com/office/drawing/2014/main" id="{85693B33-BB22-34C2-E545-0F1A1E829AE9}"/>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50239953-E473-515A-AB4E-FB240FF6B770}"/>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2903412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FEA6EF-AC7F-CA58-F461-99BF562CAE43}"/>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C8D9F1CD-A3BE-BCCA-49AA-8C794042FFB2}"/>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4" name="Fußzeilenplatzhalter 3">
            <a:extLst>
              <a:ext uri="{FF2B5EF4-FFF2-40B4-BE49-F238E27FC236}">
                <a16:creationId xmlns:a16="http://schemas.microsoft.com/office/drawing/2014/main" id="{DC98FAA4-ED29-EE1C-8713-442635544C23}"/>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009944DB-09F6-2A23-F433-AB87AAF2E968}"/>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4151867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05D00F7-61C5-01DF-C8DA-D3BA070A06D5}"/>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3" name="Fußzeilenplatzhalter 2">
            <a:extLst>
              <a:ext uri="{FF2B5EF4-FFF2-40B4-BE49-F238E27FC236}">
                <a16:creationId xmlns:a16="http://schemas.microsoft.com/office/drawing/2014/main" id="{F081ADD9-5BD8-6FF9-226E-B03701A38F8A}"/>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23749CC3-EBE0-3AE0-A21F-863CED5BDC1E}"/>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110718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BCC835-18CE-4660-6B3F-8A80E459276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2FAEB27C-2C88-B141-CAD1-039B65783D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84EECB79-0D4E-B8CD-15F0-513E05A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36B94C0-0BE2-0E4B-75A7-912795932703}"/>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6" name="Fußzeilenplatzhalter 5">
            <a:extLst>
              <a:ext uri="{FF2B5EF4-FFF2-40B4-BE49-F238E27FC236}">
                <a16:creationId xmlns:a16="http://schemas.microsoft.com/office/drawing/2014/main" id="{CEC9EC5F-9701-411F-9366-128F92620857}"/>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3F2D6238-8C00-0A63-1849-3E9FFE9309D7}"/>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3978243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2F817B-F658-B423-F44D-02C5ED66021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553A0C50-18D6-AF36-8D2B-FF0162327E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B3AFCB99-A7CD-C784-B9C0-D3320001D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CEA645B-824C-A2C5-D4C7-EE2E22E1FBB5}"/>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6" name="Fußzeilenplatzhalter 5">
            <a:extLst>
              <a:ext uri="{FF2B5EF4-FFF2-40B4-BE49-F238E27FC236}">
                <a16:creationId xmlns:a16="http://schemas.microsoft.com/office/drawing/2014/main" id="{C4EA7617-A29C-494C-59F5-3AC4D03E47EB}"/>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B46E509D-71F2-3A17-CF62-3AFA9FE55FFA}"/>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1769188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B69D1D-1AA5-06E3-4B5D-4E2ED375CCA9}"/>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C715B801-DFC3-6631-85AB-375288188EF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F5F96F53-2820-EF08-431C-24C5130539FC}"/>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EA85753C-1D83-8522-3157-CDCDD3BCDB0D}"/>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3162976-7F9D-55F8-D06B-5297C811883E}"/>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304858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6898386-1353-3C1B-B5D0-8ED36B851A80}"/>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804CD5AB-AB34-B948-F29E-65C49E48F21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89FDDE3B-5E2B-B31E-16E7-352FA83CA377}"/>
              </a:ext>
            </a:extLst>
          </p:cNvPr>
          <p:cNvSpPr>
            <a:spLocks noGrp="1"/>
          </p:cNvSpPr>
          <p:nvPr>
            <p:ph type="dt" sz="half" idx="10"/>
          </p:nvPr>
        </p:nvSpPr>
        <p:spPr/>
        <p:txBody>
          <a:body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FDD861B8-6682-8554-E0AE-49B7F16CFBEA}"/>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2E4C71F-B921-FC43-ADD3-2D35C0AF15E0}"/>
              </a:ext>
            </a:extLst>
          </p:cNvPr>
          <p:cNvSpPr>
            <a:spLocks noGrp="1"/>
          </p:cNvSpPr>
          <p:nvPr>
            <p:ph type="sldNum" sz="quarter" idx="12"/>
          </p:nvPr>
        </p:nvSpPr>
        <p:spPr/>
        <p:txBody>
          <a:bodyPr/>
          <a:lstStyle/>
          <a:p>
            <a:fld id="{11AE11E8-F191-4004-AA7A-65B711E1AE6D}" type="slidenum">
              <a:rPr lang="de-CH" smtClean="0"/>
              <a:t>‹#›</a:t>
            </a:fld>
            <a:endParaRPr lang="de-CH"/>
          </a:p>
        </p:txBody>
      </p:sp>
    </p:spTree>
    <p:extLst>
      <p:ext uri="{BB962C8B-B14F-4D97-AF65-F5344CB8AC3E}">
        <p14:creationId xmlns:p14="http://schemas.microsoft.com/office/powerpoint/2010/main" val="4099465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3134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A47D763-3E1F-E4D8-A788-320F60BE7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B5A15817-1552-AF47-4D42-E58BE15892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34B4EF75-36B4-47C6-7030-C7275B5387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970E99-4862-4E49-B65B-00FB243DAB2E}" type="datetimeFigureOut">
              <a:rPr lang="de-CH" smtClean="0"/>
              <a:t>18.06.26</a:t>
            </a:fld>
            <a:endParaRPr lang="de-CH"/>
          </a:p>
        </p:txBody>
      </p:sp>
      <p:sp>
        <p:nvSpPr>
          <p:cNvPr id="5" name="Fußzeilenplatzhalter 4">
            <a:extLst>
              <a:ext uri="{FF2B5EF4-FFF2-40B4-BE49-F238E27FC236}">
                <a16:creationId xmlns:a16="http://schemas.microsoft.com/office/drawing/2014/main" id="{D06DADEA-329B-85F8-403C-AF962AC558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42235687-39A0-596B-A0EC-41697126E8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AE11E8-F191-4004-AA7A-65B711E1AE6D}" type="slidenum">
              <a:rPr lang="de-CH" smtClean="0"/>
              <a:t>‹#›</a:t>
            </a:fld>
            <a:endParaRPr lang="de-CH"/>
          </a:p>
        </p:txBody>
      </p:sp>
    </p:spTree>
    <p:extLst>
      <p:ext uri="{BB962C8B-B14F-4D97-AF65-F5344CB8AC3E}">
        <p14:creationId xmlns:p14="http://schemas.microsoft.com/office/powerpoint/2010/main" val="2512681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75360" y="1828800"/>
            <a:ext cx="10241280" cy="426720"/>
          </a:xfrm>
          <a:prstGeom prst="rect">
            <a:avLst/>
          </a:prstGeom>
          <a:noFill/>
          <a:ln/>
        </p:spPr>
        <p:txBody>
          <a:bodyPr wrap="square" lIns="0" tIns="0" rIns="0" bIns="0" rtlCol="0" anchor="ctr"/>
          <a:lstStyle/>
          <a:p>
            <a:r>
              <a:rPr lang="en-US" sz="1733" b="1" kern="0" spc="533" dirty="0">
                <a:solidFill>
                  <a:srgbClr val="E8A33D"/>
                </a:solidFill>
                <a:latin typeface="Calibri" pitchFamily="34" charset="0"/>
                <a:ea typeface="Calibri" pitchFamily="34" charset="-122"/>
                <a:cs typeface="Calibri" pitchFamily="34" charset="-120"/>
              </a:rPr>
              <a:t>AI EXPLOITATION &amp; INNOVATION</a:t>
            </a:r>
            <a:endParaRPr lang="en-US" sz="1733" dirty="0"/>
          </a:p>
        </p:txBody>
      </p:sp>
      <p:sp>
        <p:nvSpPr>
          <p:cNvPr id="3" name="Text 1"/>
          <p:cNvSpPr/>
          <p:nvPr/>
        </p:nvSpPr>
        <p:spPr>
          <a:xfrm>
            <a:off x="975360" y="2316480"/>
            <a:ext cx="10241280" cy="1219200"/>
          </a:xfrm>
          <a:prstGeom prst="rect">
            <a:avLst/>
          </a:prstGeom>
          <a:noFill/>
          <a:ln/>
        </p:spPr>
        <p:txBody>
          <a:bodyPr wrap="square" lIns="0" tIns="0" rIns="0" bIns="0" rtlCol="0" anchor="ctr"/>
          <a:lstStyle/>
          <a:p>
            <a:r>
              <a:rPr lang="en-US" sz="6133" b="1" dirty="0">
                <a:solidFill>
                  <a:srgbClr val="002060"/>
                </a:solidFill>
                <a:latin typeface="Cambria" pitchFamily="34" charset="0"/>
                <a:ea typeface="Cambria" pitchFamily="34" charset="-122"/>
                <a:cs typeface="Cambria" pitchFamily="34" charset="-120"/>
              </a:rPr>
              <a:t>Predicting Customer Churn</a:t>
            </a:r>
            <a:endParaRPr lang="en-US" sz="6133" dirty="0">
              <a:solidFill>
                <a:srgbClr val="002060"/>
              </a:solidFill>
            </a:endParaRPr>
          </a:p>
        </p:txBody>
      </p:sp>
      <p:sp>
        <p:nvSpPr>
          <p:cNvPr id="4" name="Text 2"/>
          <p:cNvSpPr/>
          <p:nvPr/>
        </p:nvSpPr>
        <p:spPr>
          <a:xfrm>
            <a:off x="975360" y="3596640"/>
            <a:ext cx="10241280" cy="609600"/>
          </a:xfrm>
          <a:prstGeom prst="rect">
            <a:avLst/>
          </a:prstGeom>
          <a:noFill/>
          <a:ln/>
        </p:spPr>
        <p:txBody>
          <a:bodyPr wrap="square" lIns="0" tIns="0" rIns="0" bIns="0" rtlCol="0" anchor="ctr"/>
          <a:lstStyle/>
          <a:p>
            <a:r>
              <a:rPr lang="en-US" sz="2533" dirty="0">
                <a:solidFill>
                  <a:srgbClr val="0070C0"/>
                </a:solidFill>
                <a:latin typeface="Calibri" pitchFamily="34" charset="0"/>
                <a:ea typeface="Calibri" pitchFamily="34" charset="-122"/>
                <a:cs typeface="Calibri" pitchFamily="34" charset="-120"/>
              </a:rPr>
              <a:t>Finding the customers about to leave - before they do</a:t>
            </a:r>
            <a:endParaRPr lang="en-US" sz="2533" dirty="0">
              <a:solidFill>
                <a:srgbClr val="0070C0"/>
              </a:solidFill>
            </a:endParaRPr>
          </a:p>
        </p:txBody>
      </p:sp>
      <p:sp>
        <p:nvSpPr>
          <p:cNvPr id="5" name="Shape 3"/>
          <p:cNvSpPr/>
          <p:nvPr/>
        </p:nvSpPr>
        <p:spPr>
          <a:xfrm>
            <a:off x="999744" y="4450080"/>
            <a:ext cx="2072640" cy="0"/>
          </a:xfrm>
          <a:prstGeom prst="line">
            <a:avLst/>
          </a:prstGeom>
          <a:noFill/>
          <a:ln w="31750">
            <a:solidFill>
              <a:srgbClr val="E8A33D"/>
            </a:solidFill>
            <a:prstDash val="solid"/>
          </a:ln>
        </p:spPr>
        <p:txBody>
          <a:bodyPr/>
          <a:lstStyle/>
          <a:p>
            <a:endParaRPr lang="en-IN" sz="2400"/>
          </a:p>
        </p:txBody>
      </p:sp>
      <p:sp>
        <p:nvSpPr>
          <p:cNvPr id="6" name="Text 4"/>
          <p:cNvSpPr/>
          <p:nvPr/>
        </p:nvSpPr>
        <p:spPr>
          <a:xfrm>
            <a:off x="975360" y="4632960"/>
            <a:ext cx="10241280" cy="487680"/>
          </a:xfrm>
          <a:prstGeom prst="rect">
            <a:avLst/>
          </a:prstGeom>
          <a:noFill/>
          <a:ln/>
        </p:spPr>
        <p:txBody>
          <a:bodyPr wrap="square" lIns="0" tIns="0" rIns="0" bIns="0" rtlCol="0" anchor="ctr"/>
          <a:lstStyle/>
          <a:p>
            <a:r>
              <a:rPr lang="en-US" sz="1867" dirty="0">
                <a:solidFill>
                  <a:srgbClr val="9FB0D8"/>
                </a:solidFill>
                <a:latin typeface="Calibri" pitchFamily="34" charset="0"/>
                <a:ea typeface="Calibri" pitchFamily="34" charset="-122"/>
                <a:cs typeface="Calibri" pitchFamily="34" charset="-120"/>
              </a:rPr>
              <a:t>Daniel Lutziger   |   18.06.2026</a:t>
            </a:r>
            <a:endParaRPr lang="en-US" sz="18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390144"/>
            <a:ext cx="10972800" cy="365760"/>
          </a:xfrm>
          <a:prstGeom prst="rect">
            <a:avLst/>
          </a:prstGeom>
          <a:noFill/>
          <a:ln/>
        </p:spPr>
        <p:txBody>
          <a:bodyPr wrap="square" lIns="0" tIns="0" rIns="0" bIns="0" rtlCol="0" anchor="ctr"/>
          <a:lstStyle/>
          <a:p>
            <a:r>
              <a:rPr lang="en-US" sz="1533" b="1" kern="0" spc="400" dirty="0">
                <a:solidFill>
                  <a:srgbClr val="E8A33D"/>
                </a:solidFill>
                <a:latin typeface="Calibri" pitchFamily="34" charset="0"/>
                <a:ea typeface="Calibri" pitchFamily="34" charset="-122"/>
                <a:cs typeface="Calibri" pitchFamily="34" charset="-120"/>
              </a:rPr>
              <a:t>WHAT WE BUILT</a:t>
            </a:r>
            <a:endParaRPr lang="en-US" sz="1533" dirty="0"/>
          </a:p>
        </p:txBody>
      </p:sp>
      <p:sp>
        <p:nvSpPr>
          <p:cNvPr id="3" name="Text 1"/>
          <p:cNvSpPr/>
          <p:nvPr/>
        </p:nvSpPr>
        <p:spPr>
          <a:xfrm>
            <a:off x="670560" y="731520"/>
            <a:ext cx="10972800" cy="91440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We can spend retention budget where it counts</a:t>
            </a:r>
            <a:endParaRPr lang="en-US" sz="4000" dirty="0"/>
          </a:p>
        </p:txBody>
      </p:sp>
      <p:sp>
        <p:nvSpPr>
          <p:cNvPr id="4" name="Text 2"/>
          <p:cNvSpPr/>
          <p:nvPr/>
        </p:nvSpPr>
        <p:spPr>
          <a:xfrm>
            <a:off x="670560" y="1828800"/>
            <a:ext cx="6096000" cy="1706880"/>
          </a:xfrm>
          <a:prstGeom prst="rect">
            <a:avLst/>
          </a:prstGeom>
          <a:noFill/>
          <a:ln/>
        </p:spPr>
        <p:txBody>
          <a:bodyPr wrap="square" lIns="0" tIns="0" rIns="0" bIns="0" rtlCol="0" anchor="ctr"/>
          <a:lstStyle/>
          <a:p>
            <a:pPr>
              <a:lnSpc>
                <a:spcPct val="115000"/>
              </a:lnSpc>
            </a:pPr>
            <a:r>
              <a:rPr lang="en-US" sz="2067" dirty="0">
                <a:solidFill>
                  <a:srgbClr val="2B2F3A"/>
                </a:solidFill>
                <a:latin typeface="Calibri" pitchFamily="34" charset="0"/>
                <a:ea typeface="Calibri" pitchFamily="34" charset="-122"/>
                <a:cs typeface="Calibri" pitchFamily="34" charset="-120"/>
              </a:rPr>
              <a:t>Keeping a customer costs far less than winning a new one. The model ranks every customer by how likely they are to leave next quarter, so we contact the highest-risk first - as far as the budget goes, and no further than it pays off.</a:t>
            </a:r>
            <a:endParaRPr lang="en-US" sz="2067" dirty="0"/>
          </a:p>
        </p:txBody>
      </p:sp>
      <p:sp>
        <p:nvSpPr>
          <p:cNvPr id="5" name="Shape 3"/>
          <p:cNvSpPr/>
          <p:nvPr/>
        </p:nvSpPr>
        <p:spPr>
          <a:xfrm>
            <a:off x="670560" y="3718560"/>
            <a:ext cx="6096000" cy="2255520"/>
          </a:xfrm>
          <a:prstGeom prst="roundRect">
            <a:avLst>
              <a:gd name="adj" fmla="val 4324"/>
            </a:avLst>
          </a:prstGeom>
          <a:solidFill>
            <a:srgbClr val="1E2761"/>
          </a:solidFill>
          <a:ln/>
          <a:effectLst>
            <a:outerShdw blurRad="88900" dist="38100" dir="5400000" algn="bl" rotWithShape="0">
              <a:srgbClr val="1E2761">
                <a:alpha val="14000"/>
              </a:srgbClr>
            </a:outerShdw>
          </a:effectLst>
        </p:spPr>
        <p:txBody>
          <a:bodyPr/>
          <a:lstStyle/>
          <a:p>
            <a:endParaRPr lang="en-IN" sz="2400"/>
          </a:p>
        </p:txBody>
      </p:sp>
      <p:sp>
        <p:nvSpPr>
          <p:cNvPr id="6" name="Text 4"/>
          <p:cNvSpPr/>
          <p:nvPr/>
        </p:nvSpPr>
        <p:spPr>
          <a:xfrm>
            <a:off x="853440" y="3925824"/>
            <a:ext cx="2438400" cy="1341120"/>
          </a:xfrm>
          <a:prstGeom prst="rect">
            <a:avLst/>
          </a:prstGeom>
          <a:noFill/>
          <a:ln/>
        </p:spPr>
        <p:txBody>
          <a:bodyPr wrap="square" lIns="0" tIns="0" rIns="0" bIns="0" rtlCol="0" anchor="ctr"/>
          <a:lstStyle/>
          <a:p>
            <a:r>
              <a:rPr lang="en-US" sz="7733" b="1" dirty="0">
                <a:solidFill>
                  <a:srgbClr val="E8A33D"/>
                </a:solidFill>
                <a:latin typeface="Cambria" pitchFamily="34" charset="0"/>
                <a:ea typeface="Cambria" pitchFamily="34" charset="-122"/>
                <a:cs typeface="Cambria" pitchFamily="34" charset="-120"/>
              </a:rPr>
              <a:t>2.9x</a:t>
            </a:r>
            <a:endParaRPr lang="en-US" sz="7733" dirty="0"/>
          </a:p>
        </p:txBody>
      </p:sp>
      <p:sp>
        <p:nvSpPr>
          <p:cNvPr id="7" name="Text 5"/>
          <p:cNvSpPr/>
          <p:nvPr/>
        </p:nvSpPr>
        <p:spPr>
          <a:xfrm>
            <a:off x="3352800" y="3998976"/>
            <a:ext cx="3230880" cy="1706880"/>
          </a:xfrm>
          <a:prstGeom prst="rect">
            <a:avLst/>
          </a:prstGeom>
          <a:noFill/>
          <a:ln/>
        </p:spPr>
        <p:txBody>
          <a:bodyPr wrap="square" lIns="0" tIns="0" rIns="0" bIns="0" rtlCol="0" anchor="ctr"/>
          <a:lstStyle/>
          <a:p>
            <a:pPr>
              <a:lnSpc>
                <a:spcPct val="105000"/>
              </a:lnSpc>
            </a:pPr>
            <a:r>
              <a:rPr lang="en-US" sz="2000" b="1" dirty="0">
                <a:solidFill>
                  <a:srgbClr val="FFFFFF"/>
                </a:solidFill>
                <a:latin typeface="Calibri" pitchFamily="34" charset="0"/>
                <a:ea typeface="Calibri" pitchFamily="34" charset="-122"/>
                <a:cs typeface="Calibri" pitchFamily="34" charset="-120"/>
              </a:rPr>
              <a:t>more leavers found</a:t>
            </a:r>
            <a:endParaRPr lang="en-US" sz="2000" dirty="0"/>
          </a:p>
          <a:p>
            <a:pPr>
              <a:lnSpc>
                <a:spcPct val="105000"/>
              </a:lnSpc>
            </a:pPr>
            <a:r>
              <a:rPr lang="en-US" sz="2000" dirty="0">
                <a:solidFill>
                  <a:srgbClr val="FFFFFF"/>
                </a:solidFill>
                <a:latin typeface="Calibri" pitchFamily="34" charset="0"/>
                <a:ea typeface="Calibri" pitchFamily="34" charset="-122"/>
                <a:cs typeface="Calibri" pitchFamily="34" charset="-120"/>
              </a:rPr>
              <a:t>than contacting customers at random</a:t>
            </a:r>
            <a:endParaRPr lang="en-US" sz="2000" dirty="0"/>
          </a:p>
        </p:txBody>
      </p:sp>
      <p:sp>
        <p:nvSpPr>
          <p:cNvPr id="8" name="Text 6"/>
          <p:cNvSpPr/>
          <p:nvPr/>
        </p:nvSpPr>
        <p:spPr>
          <a:xfrm>
            <a:off x="7254240" y="1767840"/>
            <a:ext cx="4389120" cy="609600"/>
          </a:xfrm>
          <a:prstGeom prst="rect">
            <a:avLst/>
          </a:prstGeom>
          <a:noFill/>
          <a:ln/>
        </p:spPr>
        <p:txBody>
          <a:bodyPr wrap="square" lIns="0" tIns="0" rIns="0" bIns="0" rtlCol="0" anchor="ctr"/>
          <a:lstStyle/>
          <a:p>
            <a:pPr algn="ctr"/>
            <a:r>
              <a:rPr lang="en-US" sz="1733" b="1" dirty="0">
                <a:solidFill>
                  <a:srgbClr val="1E2761"/>
                </a:solidFill>
                <a:latin typeface="Calibri" pitchFamily="34" charset="0"/>
                <a:ea typeface="Calibri" pitchFamily="34" charset="-122"/>
                <a:cs typeface="Calibri" pitchFamily="34" charset="-120"/>
              </a:rPr>
              <a:t>Real leavers found per 100 customers contacted</a:t>
            </a:r>
            <a:endParaRPr lang="en-US" sz="1733" dirty="0"/>
          </a:p>
        </p:txBody>
      </p:sp>
      <p:graphicFrame>
        <p:nvGraphicFramePr>
          <p:cNvPr id="9" name="Chart 0"/>
          <p:cNvGraphicFramePr/>
          <p:nvPr/>
        </p:nvGraphicFramePr>
        <p:xfrm>
          <a:off x="7254240" y="2377440"/>
          <a:ext cx="4328160" cy="3596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7254240" y="6035040"/>
            <a:ext cx="4389120" cy="365760"/>
          </a:xfrm>
          <a:prstGeom prst="rect">
            <a:avLst/>
          </a:prstGeom>
          <a:noFill/>
          <a:ln/>
        </p:spPr>
        <p:txBody>
          <a:bodyPr wrap="square" lIns="0" tIns="0" rIns="0" bIns="0" rtlCol="0" anchor="ctr"/>
          <a:lstStyle/>
          <a:p>
            <a:pPr algn="ctr"/>
            <a:r>
              <a:rPr lang="en-US" sz="1400" i="1" dirty="0">
                <a:solidFill>
                  <a:srgbClr val="6B7280"/>
                </a:solidFill>
                <a:latin typeface="Calibri" pitchFamily="34" charset="0"/>
                <a:ea typeface="Calibri" pitchFamily="34" charset="-122"/>
                <a:cs typeface="Calibri" pitchFamily="34" charset="-120"/>
              </a:rPr>
              <a:t>Model discrimination: ROC-AUC 0.84   |   base churn rate 26.5%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390144"/>
            <a:ext cx="10972800" cy="365760"/>
          </a:xfrm>
          <a:prstGeom prst="rect">
            <a:avLst/>
          </a:prstGeom>
          <a:noFill/>
          <a:ln/>
        </p:spPr>
        <p:txBody>
          <a:bodyPr wrap="square" lIns="0" tIns="0" rIns="0" bIns="0" rtlCol="0" anchor="ctr"/>
          <a:lstStyle/>
          <a:p>
            <a:r>
              <a:rPr lang="en-US" sz="1533" b="1" kern="0" spc="400" dirty="0">
                <a:solidFill>
                  <a:srgbClr val="E8A33D"/>
                </a:solidFill>
                <a:latin typeface="Calibri" pitchFamily="34" charset="0"/>
                <a:ea typeface="Calibri" pitchFamily="34" charset="-122"/>
                <a:cs typeface="Calibri" pitchFamily="34" charset="-120"/>
              </a:rPr>
              <a:t>WHAT THE ANALYSIS SHOWS</a:t>
            </a:r>
            <a:endParaRPr lang="en-US" sz="1533" dirty="0"/>
          </a:p>
        </p:txBody>
      </p:sp>
      <p:sp>
        <p:nvSpPr>
          <p:cNvPr id="3" name="Text 1"/>
          <p:cNvSpPr/>
          <p:nvPr/>
        </p:nvSpPr>
        <p:spPr>
          <a:xfrm>
            <a:off x="670560" y="731520"/>
            <a:ext cx="10972800" cy="91440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Who is at risk - and why</a:t>
            </a:r>
            <a:endParaRPr lang="en-US" sz="4000" dirty="0"/>
          </a:p>
        </p:txBody>
      </p:sp>
      <p:sp>
        <p:nvSpPr>
          <p:cNvPr id="4" name="Text 2"/>
          <p:cNvSpPr/>
          <p:nvPr/>
        </p:nvSpPr>
        <p:spPr>
          <a:xfrm>
            <a:off x="670560" y="1767840"/>
            <a:ext cx="6583680" cy="487680"/>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Share of customers who leave, by the strongest risk factors</a:t>
            </a:r>
            <a:endParaRPr lang="en-US" sz="1733" dirty="0"/>
          </a:p>
        </p:txBody>
      </p:sp>
      <p:graphicFrame>
        <p:nvGraphicFramePr>
          <p:cNvPr id="5" name="Chart 0"/>
          <p:cNvGraphicFramePr/>
          <p:nvPr/>
        </p:nvGraphicFramePr>
        <p:xfrm>
          <a:off x="609600" y="2255520"/>
          <a:ext cx="6705600" cy="4145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80960" y="2072640"/>
            <a:ext cx="3962400" cy="4084320"/>
          </a:xfrm>
          <a:prstGeom prst="roundRect">
            <a:avLst>
              <a:gd name="adj" fmla="val 2462"/>
            </a:avLst>
          </a:prstGeom>
          <a:solidFill>
            <a:srgbClr val="F3F5FA"/>
          </a:solidFill>
          <a:ln/>
          <a:effectLst>
            <a:outerShdw blurRad="88900" dist="38100" dir="5400000" algn="bl" rotWithShape="0">
              <a:srgbClr val="1E2761">
                <a:alpha val="14000"/>
              </a:srgbClr>
            </a:outerShdw>
          </a:effectLst>
        </p:spPr>
        <p:txBody>
          <a:bodyPr/>
          <a:lstStyle/>
          <a:p>
            <a:endParaRPr lang="en-IN" sz="2400"/>
          </a:p>
        </p:txBody>
      </p:sp>
      <p:sp>
        <p:nvSpPr>
          <p:cNvPr id="7" name="Text 4"/>
          <p:cNvSpPr/>
          <p:nvPr/>
        </p:nvSpPr>
        <p:spPr>
          <a:xfrm>
            <a:off x="7985760" y="2377440"/>
            <a:ext cx="3413760" cy="426720"/>
          </a:xfrm>
          <a:prstGeom prst="rect">
            <a:avLst/>
          </a:prstGeom>
          <a:noFill/>
          <a:ln/>
        </p:spPr>
        <p:txBody>
          <a:bodyPr wrap="square" lIns="0" tIns="0" rIns="0" bIns="0" rtlCol="0" anchor="ctr"/>
          <a:lstStyle/>
          <a:p>
            <a:r>
              <a:rPr lang="en-US" sz="1600" b="1" kern="0" spc="267" dirty="0">
                <a:solidFill>
                  <a:srgbClr val="E8A33D"/>
                </a:solidFill>
                <a:latin typeface="Calibri" pitchFamily="34" charset="0"/>
                <a:ea typeface="Calibri" pitchFamily="34" charset="-122"/>
                <a:cs typeface="Calibri" pitchFamily="34" charset="-120"/>
              </a:rPr>
              <a:t>THE AT-RISK CUSTOMER</a:t>
            </a:r>
            <a:endParaRPr lang="en-US" sz="1600" dirty="0"/>
          </a:p>
        </p:txBody>
      </p:sp>
      <p:sp>
        <p:nvSpPr>
          <p:cNvPr id="8" name="Text 5"/>
          <p:cNvSpPr/>
          <p:nvPr/>
        </p:nvSpPr>
        <p:spPr>
          <a:xfrm>
            <a:off x="7985760" y="2926080"/>
            <a:ext cx="3413760" cy="3048000"/>
          </a:xfrm>
          <a:prstGeom prst="rect">
            <a:avLst/>
          </a:prstGeom>
          <a:noFill/>
          <a:ln/>
        </p:spPr>
        <p:txBody>
          <a:bodyPr wrap="square" lIns="0" tIns="0" rIns="0" bIns="0" rtlCol="0" anchor="ctr"/>
          <a:lstStyle/>
          <a:p>
            <a:pPr marL="457189" indent="-457189">
              <a:spcAft>
                <a:spcPts val="1333"/>
              </a:spcAft>
              <a:buSzPct val="100000"/>
              <a:buChar char="•"/>
            </a:pPr>
            <a:r>
              <a:rPr lang="en-US" sz="1933" dirty="0">
                <a:solidFill>
                  <a:srgbClr val="2B2F3A"/>
                </a:solidFill>
                <a:latin typeface="Calibri" pitchFamily="34" charset="0"/>
                <a:ea typeface="Calibri" pitchFamily="34" charset="-122"/>
                <a:cs typeface="Calibri" pitchFamily="34" charset="-120"/>
              </a:rPr>
              <a:t>On a month-to-month contract</a:t>
            </a:r>
            <a:endParaRPr lang="en-US" sz="1933" dirty="0"/>
          </a:p>
          <a:p>
            <a:pPr marL="457189" indent="-457189">
              <a:spcAft>
                <a:spcPts val="1333"/>
              </a:spcAft>
              <a:buSzPct val="100000"/>
              <a:buChar char="•"/>
            </a:pPr>
            <a:r>
              <a:rPr lang="en-US" sz="1933" dirty="0">
                <a:solidFill>
                  <a:srgbClr val="2B2F3A"/>
                </a:solidFill>
                <a:latin typeface="Calibri" pitchFamily="34" charset="0"/>
                <a:ea typeface="Calibri" pitchFamily="34" charset="-122"/>
                <a:cs typeface="Calibri" pitchFamily="34" charset="-120"/>
              </a:rPr>
              <a:t>New - in their first few months</a:t>
            </a:r>
            <a:endParaRPr lang="en-US" sz="1933" dirty="0"/>
          </a:p>
          <a:p>
            <a:pPr marL="457189" indent="-457189">
              <a:spcAft>
                <a:spcPts val="1333"/>
              </a:spcAft>
              <a:buSzPct val="100000"/>
              <a:buChar char="•"/>
            </a:pPr>
            <a:r>
              <a:rPr lang="en-US" sz="1933" dirty="0">
                <a:solidFill>
                  <a:srgbClr val="2B2F3A"/>
                </a:solidFill>
                <a:latin typeface="Calibri" pitchFamily="34" charset="0"/>
                <a:ea typeface="Calibri" pitchFamily="34" charset="-122"/>
                <a:cs typeface="Calibri" pitchFamily="34" charset="-120"/>
              </a:rPr>
              <a:t>On a fiber-optic plan</a:t>
            </a:r>
            <a:endParaRPr lang="en-US" sz="1933" dirty="0"/>
          </a:p>
          <a:p>
            <a:pPr marL="457189" indent="-457189">
              <a:spcAft>
                <a:spcPts val="1333"/>
              </a:spcAft>
              <a:buSzPct val="100000"/>
              <a:buChar char="•"/>
            </a:pPr>
            <a:r>
              <a:rPr lang="en-US" sz="1933" dirty="0">
                <a:solidFill>
                  <a:srgbClr val="2B2F3A"/>
                </a:solidFill>
                <a:latin typeface="Calibri" pitchFamily="34" charset="0"/>
                <a:ea typeface="Calibri" pitchFamily="34" charset="-122"/>
                <a:cs typeface="Calibri" pitchFamily="34" charset="-120"/>
              </a:rPr>
              <a:t>Pays by electronic check</a:t>
            </a:r>
            <a:endParaRPr lang="en-US" sz="1933" dirty="0"/>
          </a:p>
          <a:p>
            <a:pPr marL="457189" indent="-457189">
              <a:spcAft>
                <a:spcPts val="1333"/>
              </a:spcAft>
              <a:buSzPct val="100000"/>
              <a:buChar char="•"/>
            </a:pPr>
            <a:r>
              <a:rPr lang="en-US" sz="1933" dirty="0">
                <a:solidFill>
                  <a:srgbClr val="2B2F3A"/>
                </a:solidFill>
                <a:latin typeface="Calibri" pitchFamily="34" charset="0"/>
                <a:ea typeface="Calibri" pitchFamily="34" charset="-122"/>
                <a:cs typeface="Calibri" pitchFamily="34" charset="-120"/>
              </a:rPr>
              <a:t>Has no tech-support / security add-ons</a:t>
            </a:r>
            <a:endParaRPr lang="en-US" sz="19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390144"/>
            <a:ext cx="10972800" cy="365760"/>
          </a:xfrm>
          <a:prstGeom prst="rect">
            <a:avLst/>
          </a:prstGeom>
          <a:noFill/>
          <a:ln/>
        </p:spPr>
        <p:txBody>
          <a:bodyPr wrap="square" lIns="0" tIns="0" rIns="0" bIns="0" rtlCol="0" anchor="ctr"/>
          <a:lstStyle/>
          <a:p>
            <a:r>
              <a:rPr lang="en-US" sz="1533" b="1" kern="0" spc="400" dirty="0">
                <a:solidFill>
                  <a:srgbClr val="E8A33D"/>
                </a:solidFill>
                <a:latin typeface="Calibri" pitchFamily="34" charset="0"/>
                <a:ea typeface="Calibri" pitchFamily="34" charset="-122"/>
                <a:cs typeface="Calibri" pitchFamily="34" charset="-120"/>
              </a:rPr>
              <a:t>RECOMMENDATIONS</a:t>
            </a:r>
            <a:endParaRPr lang="en-US" sz="1533" dirty="0"/>
          </a:p>
        </p:txBody>
      </p:sp>
      <p:sp>
        <p:nvSpPr>
          <p:cNvPr id="3" name="Text 1"/>
          <p:cNvSpPr/>
          <p:nvPr/>
        </p:nvSpPr>
        <p:spPr>
          <a:xfrm>
            <a:off x="670560" y="731520"/>
            <a:ext cx="10972800" cy="91440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What I would do</a:t>
            </a:r>
            <a:endParaRPr lang="en-US" sz="4000" dirty="0"/>
          </a:p>
        </p:txBody>
      </p:sp>
      <p:sp>
        <p:nvSpPr>
          <p:cNvPr id="4" name="Shape 2"/>
          <p:cNvSpPr/>
          <p:nvPr/>
        </p:nvSpPr>
        <p:spPr>
          <a:xfrm>
            <a:off x="670560" y="1767840"/>
            <a:ext cx="10850880" cy="902208"/>
          </a:xfrm>
          <a:prstGeom prst="roundRect">
            <a:avLst>
              <a:gd name="adj" fmla="val 8108"/>
            </a:avLst>
          </a:prstGeom>
          <a:solidFill>
            <a:srgbClr val="F3F5FA"/>
          </a:solidFill>
          <a:ln/>
        </p:spPr>
        <p:txBody>
          <a:bodyPr/>
          <a:lstStyle/>
          <a:p>
            <a:endParaRPr lang="en-IN" sz="2400"/>
          </a:p>
        </p:txBody>
      </p:sp>
      <p:sp>
        <p:nvSpPr>
          <p:cNvPr id="5" name="Shape 3"/>
          <p:cNvSpPr/>
          <p:nvPr/>
        </p:nvSpPr>
        <p:spPr>
          <a:xfrm>
            <a:off x="877824" y="1914144"/>
            <a:ext cx="609600" cy="609600"/>
          </a:xfrm>
          <a:prstGeom prst="ellipse">
            <a:avLst/>
          </a:prstGeom>
          <a:solidFill>
            <a:srgbClr val="CADCFC"/>
          </a:solidFill>
          <a:ln/>
        </p:spPr>
        <p:txBody>
          <a:bodyPr/>
          <a:lstStyle/>
          <a:p>
            <a:endParaRPr lang="en-IN" sz="2400"/>
          </a:p>
        </p:txBody>
      </p:sp>
      <p:pic>
        <p:nvPicPr>
          <p:cNvPr id="6" name="Image 0" descr="preencoded.png"/>
          <p:cNvPicPr>
            <a:picLocks noChangeAspect="1"/>
          </p:cNvPicPr>
          <p:nvPr/>
        </p:nvPicPr>
        <p:blipFill>
          <a:blip r:embed="rId3"/>
          <a:stretch>
            <a:fillRect/>
          </a:stretch>
        </p:blipFill>
        <p:spPr>
          <a:xfrm>
            <a:off x="1024128" y="2072640"/>
            <a:ext cx="316992" cy="316992"/>
          </a:xfrm>
          <a:prstGeom prst="rect">
            <a:avLst/>
          </a:prstGeom>
        </p:spPr>
      </p:pic>
      <p:sp>
        <p:nvSpPr>
          <p:cNvPr id="7" name="Text 4"/>
          <p:cNvSpPr/>
          <p:nvPr/>
        </p:nvSpPr>
        <p:spPr>
          <a:xfrm>
            <a:off x="1767840" y="1865376"/>
            <a:ext cx="9570720" cy="390144"/>
          </a:xfrm>
          <a:prstGeom prst="rect">
            <a:avLst/>
          </a:prstGeom>
          <a:noFill/>
          <a:ln/>
        </p:spPr>
        <p:txBody>
          <a:bodyPr wrap="square" lIns="0" tIns="0" rIns="0" bIns="0" rtlCol="0" anchor="ctr"/>
          <a:lstStyle/>
          <a:p>
            <a:r>
              <a:rPr lang="en-US" sz="1933" b="1" dirty="0">
                <a:solidFill>
                  <a:srgbClr val="1E2761"/>
                </a:solidFill>
                <a:latin typeface="Calibri" pitchFamily="34" charset="0"/>
                <a:ea typeface="Calibri" pitchFamily="34" charset="-122"/>
                <a:cs typeface="Calibri" pitchFamily="34" charset="-120"/>
              </a:rPr>
              <a:t>Move month-to-month customers to yearly contracts</a:t>
            </a:r>
            <a:endParaRPr lang="en-US" sz="1933" dirty="0"/>
          </a:p>
        </p:txBody>
      </p:sp>
      <p:sp>
        <p:nvSpPr>
          <p:cNvPr id="8" name="Text 5"/>
          <p:cNvSpPr/>
          <p:nvPr/>
        </p:nvSpPr>
        <p:spPr>
          <a:xfrm>
            <a:off x="1767840" y="2231136"/>
            <a:ext cx="9570720" cy="365760"/>
          </a:xfrm>
          <a:prstGeom prst="rect">
            <a:avLst/>
          </a:prstGeom>
          <a:noFill/>
          <a:ln/>
        </p:spPr>
        <p:txBody>
          <a:bodyPr wrap="square" lIns="0" tIns="0" rIns="0" bIns="0" rtlCol="0" anchor="ctr"/>
          <a:lstStyle/>
          <a:p>
            <a:r>
              <a:rPr lang="en-US" sz="1533" dirty="0">
                <a:solidFill>
                  <a:srgbClr val="2B2F3A"/>
                </a:solidFill>
                <a:latin typeface="Calibri" pitchFamily="34" charset="0"/>
                <a:ea typeface="Calibri" pitchFamily="34" charset="-122"/>
                <a:cs typeface="Calibri" pitchFamily="34" charset="-120"/>
              </a:rPr>
              <a:t>The biggest lever by far - locked-in customers barely leave. Give them a reason to commit.</a:t>
            </a:r>
            <a:endParaRPr lang="en-US" sz="1533" dirty="0"/>
          </a:p>
        </p:txBody>
      </p:sp>
      <p:sp>
        <p:nvSpPr>
          <p:cNvPr id="9" name="Shape 6"/>
          <p:cNvSpPr/>
          <p:nvPr/>
        </p:nvSpPr>
        <p:spPr>
          <a:xfrm>
            <a:off x="670560" y="2731008"/>
            <a:ext cx="10850880" cy="902208"/>
          </a:xfrm>
          <a:prstGeom prst="roundRect">
            <a:avLst>
              <a:gd name="adj" fmla="val 8108"/>
            </a:avLst>
          </a:prstGeom>
          <a:solidFill>
            <a:srgbClr val="F3F5FA"/>
          </a:solidFill>
          <a:ln/>
        </p:spPr>
        <p:txBody>
          <a:bodyPr/>
          <a:lstStyle/>
          <a:p>
            <a:endParaRPr lang="en-IN" sz="2400"/>
          </a:p>
        </p:txBody>
      </p:sp>
      <p:sp>
        <p:nvSpPr>
          <p:cNvPr id="10" name="Shape 7"/>
          <p:cNvSpPr/>
          <p:nvPr/>
        </p:nvSpPr>
        <p:spPr>
          <a:xfrm>
            <a:off x="877824" y="2877312"/>
            <a:ext cx="609600" cy="609600"/>
          </a:xfrm>
          <a:prstGeom prst="ellipse">
            <a:avLst/>
          </a:prstGeom>
          <a:solidFill>
            <a:srgbClr val="CADCFC"/>
          </a:solidFill>
          <a:ln/>
        </p:spPr>
        <p:txBody>
          <a:bodyPr/>
          <a:lstStyle/>
          <a:p>
            <a:endParaRPr lang="en-IN" sz="2400"/>
          </a:p>
        </p:txBody>
      </p:sp>
      <p:pic>
        <p:nvPicPr>
          <p:cNvPr id="11" name="Image 1" descr="preencoded.png"/>
          <p:cNvPicPr>
            <a:picLocks noChangeAspect="1"/>
          </p:cNvPicPr>
          <p:nvPr/>
        </p:nvPicPr>
        <p:blipFill>
          <a:blip r:embed="rId4"/>
          <a:stretch>
            <a:fillRect/>
          </a:stretch>
        </p:blipFill>
        <p:spPr>
          <a:xfrm>
            <a:off x="1024128" y="3035808"/>
            <a:ext cx="316992" cy="316992"/>
          </a:xfrm>
          <a:prstGeom prst="rect">
            <a:avLst/>
          </a:prstGeom>
        </p:spPr>
      </p:pic>
      <p:sp>
        <p:nvSpPr>
          <p:cNvPr id="12" name="Text 8"/>
          <p:cNvSpPr/>
          <p:nvPr/>
        </p:nvSpPr>
        <p:spPr>
          <a:xfrm>
            <a:off x="1767840" y="2828544"/>
            <a:ext cx="9570720" cy="390144"/>
          </a:xfrm>
          <a:prstGeom prst="rect">
            <a:avLst/>
          </a:prstGeom>
          <a:noFill/>
          <a:ln/>
        </p:spPr>
        <p:txBody>
          <a:bodyPr wrap="square" lIns="0" tIns="0" rIns="0" bIns="0" rtlCol="0" anchor="ctr"/>
          <a:lstStyle/>
          <a:p>
            <a:r>
              <a:rPr lang="en-US" sz="1933" b="1" dirty="0">
                <a:solidFill>
                  <a:srgbClr val="1E2761"/>
                </a:solidFill>
                <a:latin typeface="Calibri" pitchFamily="34" charset="0"/>
                <a:ea typeface="Calibri" pitchFamily="34" charset="-122"/>
                <a:cs typeface="Calibri" pitchFamily="34" charset="-120"/>
              </a:rPr>
              <a:t>Look into fiber</a:t>
            </a:r>
            <a:endParaRPr lang="en-US" sz="1933" dirty="0"/>
          </a:p>
        </p:txBody>
      </p:sp>
      <p:sp>
        <p:nvSpPr>
          <p:cNvPr id="13" name="Text 9"/>
          <p:cNvSpPr/>
          <p:nvPr/>
        </p:nvSpPr>
        <p:spPr>
          <a:xfrm>
            <a:off x="1767840" y="3194304"/>
            <a:ext cx="9570720" cy="365760"/>
          </a:xfrm>
          <a:prstGeom prst="rect">
            <a:avLst/>
          </a:prstGeom>
          <a:noFill/>
          <a:ln/>
        </p:spPr>
        <p:txBody>
          <a:bodyPr wrap="square" lIns="0" tIns="0" rIns="0" bIns="0" rtlCol="0" anchor="ctr"/>
          <a:lstStyle/>
          <a:p>
            <a:r>
              <a:rPr lang="en-US" sz="1533" dirty="0">
                <a:solidFill>
                  <a:srgbClr val="2B2F3A"/>
                </a:solidFill>
                <a:latin typeface="Calibri" pitchFamily="34" charset="0"/>
                <a:ea typeface="Calibri" pitchFamily="34" charset="-122"/>
                <a:cs typeface="Calibri" pitchFamily="34" charset="-120"/>
              </a:rPr>
              <a:t>Fiber leaves at 42% vs 19% on DSL. Something is off - check the price and the service.</a:t>
            </a:r>
            <a:endParaRPr lang="en-US" sz="1533" dirty="0"/>
          </a:p>
        </p:txBody>
      </p:sp>
      <p:sp>
        <p:nvSpPr>
          <p:cNvPr id="14" name="Shape 10"/>
          <p:cNvSpPr/>
          <p:nvPr/>
        </p:nvSpPr>
        <p:spPr>
          <a:xfrm>
            <a:off x="670560" y="3694176"/>
            <a:ext cx="10850880" cy="902208"/>
          </a:xfrm>
          <a:prstGeom prst="roundRect">
            <a:avLst>
              <a:gd name="adj" fmla="val 8108"/>
            </a:avLst>
          </a:prstGeom>
          <a:solidFill>
            <a:srgbClr val="F3F5FA"/>
          </a:solidFill>
          <a:ln/>
        </p:spPr>
        <p:txBody>
          <a:bodyPr/>
          <a:lstStyle/>
          <a:p>
            <a:endParaRPr lang="en-IN" sz="2400"/>
          </a:p>
        </p:txBody>
      </p:sp>
      <p:sp>
        <p:nvSpPr>
          <p:cNvPr id="15" name="Shape 11"/>
          <p:cNvSpPr/>
          <p:nvPr/>
        </p:nvSpPr>
        <p:spPr>
          <a:xfrm>
            <a:off x="877824" y="3840480"/>
            <a:ext cx="609600" cy="609600"/>
          </a:xfrm>
          <a:prstGeom prst="ellipse">
            <a:avLst/>
          </a:prstGeom>
          <a:solidFill>
            <a:srgbClr val="CADCFC"/>
          </a:solidFill>
          <a:ln/>
        </p:spPr>
        <p:txBody>
          <a:bodyPr/>
          <a:lstStyle/>
          <a:p>
            <a:endParaRPr lang="en-IN" sz="2400"/>
          </a:p>
        </p:txBody>
      </p:sp>
      <p:pic>
        <p:nvPicPr>
          <p:cNvPr id="16" name="Image 2" descr="preencoded.png"/>
          <p:cNvPicPr>
            <a:picLocks noChangeAspect="1"/>
          </p:cNvPicPr>
          <p:nvPr/>
        </p:nvPicPr>
        <p:blipFill>
          <a:blip r:embed="rId5"/>
          <a:stretch>
            <a:fillRect/>
          </a:stretch>
        </p:blipFill>
        <p:spPr>
          <a:xfrm>
            <a:off x="1024128" y="3998976"/>
            <a:ext cx="316992" cy="316992"/>
          </a:xfrm>
          <a:prstGeom prst="rect">
            <a:avLst/>
          </a:prstGeom>
        </p:spPr>
      </p:pic>
      <p:sp>
        <p:nvSpPr>
          <p:cNvPr id="17" name="Text 12"/>
          <p:cNvSpPr/>
          <p:nvPr/>
        </p:nvSpPr>
        <p:spPr>
          <a:xfrm>
            <a:off x="1767840" y="3791712"/>
            <a:ext cx="9570720" cy="390144"/>
          </a:xfrm>
          <a:prstGeom prst="rect">
            <a:avLst/>
          </a:prstGeom>
          <a:noFill/>
          <a:ln/>
        </p:spPr>
        <p:txBody>
          <a:bodyPr wrap="square" lIns="0" tIns="0" rIns="0" bIns="0" rtlCol="0" anchor="ctr"/>
          <a:lstStyle/>
          <a:p>
            <a:r>
              <a:rPr lang="en-US" sz="1933" b="1" dirty="0">
                <a:solidFill>
                  <a:srgbClr val="1E2761"/>
                </a:solidFill>
                <a:latin typeface="Calibri" pitchFamily="34" charset="0"/>
                <a:ea typeface="Calibri" pitchFamily="34" charset="-122"/>
                <a:cs typeface="Calibri" pitchFamily="34" charset="-120"/>
              </a:rPr>
              <a:t>Move electronic-check payers to auto-pay</a:t>
            </a:r>
            <a:endParaRPr lang="en-US" sz="1933" dirty="0"/>
          </a:p>
        </p:txBody>
      </p:sp>
      <p:sp>
        <p:nvSpPr>
          <p:cNvPr id="18" name="Text 13"/>
          <p:cNvSpPr/>
          <p:nvPr/>
        </p:nvSpPr>
        <p:spPr>
          <a:xfrm>
            <a:off x="1767840" y="4157472"/>
            <a:ext cx="9570720" cy="365760"/>
          </a:xfrm>
          <a:prstGeom prst="rect">
            <a:avLst/>
          </a:prstGeom>
          <a:noFill/>
          <a:ln/>
        </p:spPr>
        <p:txBody>
          <a:bodyPr wrap="square" lIns="0" tIns="0" rIns="0" bIns="0" rtlCol="0" anchor="ctr"/>
          <a:lstStyle/>
          <a:p>
            <a:r>
              <a:rPr lang="en-US" sz="1533" dirty="0">
                <a:solidFill>
                  <a:srgbClr val="2B2F3A"/>
                </a:solidFill>
                <a:latin typeface="Calibri" pitchFamily="34" charset="0"/>
                <a:ea typeface="Calibri" pitchFamily="34" charset="-122"/>
                <a:cs typeface="Calibri" pitchFamily="34" charset="-120"/>
              </a:rPr>
              <a:t>The worst payment method (45%). Take the friction out of paying the bill.</a:t>
            </a:r>
            <a:endParaRPr lang="en-US" sz="1533" dirty="0"/>
          </a:p>
        </p:txBody>
      </p:sp>
      <p:sp>
        <p:nvSpPr>
          <p:cNvPr id="19" name="Shape 14"/>
          <p:cNvSpPr/>
          <p:nvPr/>
        </p:nvSpPr>
        <p:spPr>
          <a:xfrm>
            <a:off x="670560" y="4657344"/>
            <a:ext cx="10850880" cy="902208"/>
          </a:xfrm>
          <a:prstGeom prst="roundRect">
            <a:avLst>
              <a:gd name="adj" fmla="val 8108"/>
            </a:avLst>
          </a:prstGeom>
          <a:solidFill>
            <a:srgbClr val="F3F5FA"/>
          </a:solidFill>
          <a:ln/>
        </p:spPr>
        <p:txBody>
          <a:bodyPr/>
          <a:lstStyle/>
          <a:p>
            <a:endParaRPr lang="en-IN" sz="2400"/>
          </a:p>
        </p:txBody>
      </p:sp>
      <p:sp>
        <p:nvSpPr>
          <p:cNvPr id="20" name="Shape 15"/>
          <p:cNvSpPr/>
          <p:nvPr/>
        </p:nvSpPr>
        <p:spPr>
          <a:xfrm>
            <a:off x="877824" y="4803648"/>
            <a:ext cx="609600" cy="609600"/>
          </a:xfrm>
          <a:prstGeom prst="ellipse">
            <a:avLst/>
          </a:prstGeom>
          <a:solidFill>
            <a:srgbClr val="CADCFC"/>
          </a:solidFill>
          <a:ln/>
        </p:spPr>
        <p:txBody>
          <a:bodyPr/>
          <a:lstStyle/>
          <a:p>
            <a:endParaRPr lang="en-IN" sz="2400"/>
          </a:p>
        </p:txBody>
      </p:sp>
      <p:pic>
        <p:nvPicPr>
          <p:cNvPr id="21" name="Image 3" descr="preencoded.png"/>
          <p:cNvPicPr>
            <a:picLocks noChangeAspect="1"/>
          </p:cNvPicPr>
          <p:nvPr/>
        </p:nvPicPr>
        <p:blipFill>
          <a:blip r:embed="rId6"/>
          <a:stretch>
            <a:fillRect/>
          </a:stretch>
        </p:blipFill>
        <p:spPr>
          <a:xfrm>
            <a:off x="1024128" y="4962144"/>
            <a:ext cx="316992" cy="316992"/>
          </a:xfrm>
          <a:prstGeom prst="rect">
            <a:avLst/>
          </a:prstGeom>
        </p:spPr>
      </p:pic>
      <p:sp>
        <p:nvSpPr>
          <p:cNvPr id="22" name="Text 16"/>
          <p:cNvSpPr/>
          <p:nvPr/>
        </p:nvSpPr>
        <p:spPr>
          <a:xfrm>
            <a:off x="1767840" y="4754880"/>
            <a:ext cx="9570720" cy="390144"/>
          </a:xfrm>
          <a:prstGeom prst="rect">
            <a:avLst/>
          </a:prstGeom>
          <a:noFill/>
          <a:ln/>
        </p:spPr>
        <p:txBody>
          <a:bodyPr wrap="square" lIns="0" tIns="0" rIns="0" bIns="0" rtlCol="0" anchor="ctr"/>
          <a:lstStyle/>
          <a:p>
            <a:r>
              <a:rPr lang="en-US" sz="1933" b="1" dirty="0">
                <a:solidFill>
                  <a:srgbClr val="1E2761"/>
                </a:solidFill>
                <a:latin typeface="Calibri" pitchFamily="34" charset="0"/>
                <a:ea typeface="Calibri" pitchFamily="34" charset="-122"/>
                <a:cs typeface="Calibri" pitchFamily="34" charset="-120"/>
              </a:rPr>
              <a:t>Win the first few months</a:t>
            </a:r>
            <a:endParaRPr lang="en-US" sz="1933" dirty="0"/>
          </a:p>
        </p:txBody>
      </p:sp>
      <p:sp>
        <p:nvSpPr>
          <p:cNvPr id="23" name="Text 17"/>
          <p:cNvSpPr/>
          <p:nvPr/>
        </p:nvSpPr>
        <p:spPr>
          <a:xfrm>
            <a:off x="1767840" y="5120640"/>
            <a:ext cx="9570720" cy="365760"/>
          </a:xfrm>
          <a:prstGeom prst="rect">
            <a:avLst/>
          </a:prstGeom>
          <a:noFill/>
          <a:ln/>
        </p:spPr>
        <p:txBody>
          <a:bodyPr wrap="square" lIns="0" tIns="0" rIns="0" bIns="0" rtlCol="0" anchor="ctr"/>
          <a:lstStyle/>
          <a:p>
            <a:r>
              <a:rPr lang="en-US" sz="1533" dirty="0">
                <a:solidFill>
                  <a:srgbClr val="2B2F3A"/>
                </a:solidFill>
                <a:latin typeface="Calibri" pitchFamily="34" charset="0"/>
                <a:ea typeface="Calibri" pitchFamily="34" charset="-122"/>
                <a:cs typeface="Calibri" pitchFamily="34" charset="-120"/>
              </a:rPr>
              <a:t>Most people leave early on. Put effort into onboarding and new customers.</a:t>
            </a:r>
            <a:endParaRPr lang="en-US" sz="1533" dirty="0"/>
          </a:p>
        </p:txBody>
      </p:sp>
      <p:sp>
        <p:nvSpPr>
          <p:cNvPr id="24" name="Shape 18"/>
          <p:cNvSpPr/>
          <p:nvPr/>
        </p:nvSpPr>
        <p:spPr>
          <a:xfrm>
            <a:off x="670560" y="5620512"/>
            <a:ext cx="10850880" cy="902208"/>
          </a:xfrm>
          <a:prstGeom prst="roundRect">
            <a:avLst>
              <a:gd name="adj" fmla="val 8108"/>
            </a:avLst>
          </a:prstGeom>
          <a:solidFill>
            <a:srgbClr val="F3F5FA"/>
          </a:solidFill>
          <a:ln/>
        </p:spPr>
        <p:txBody>
          <a:bodyPr/>
          <a:lstStyle/>
          <a:p>
            <a:endParaRPr lang="en-IN" sz="2400"/>
          </a:p>
        </p:txBody>
      </p:sp>
      <p:sp>
        <p:nvSpPr>
          <p:cNvPr id="25" name="Shape 19"/>
          <p:cNvSpPr/>
          <p:nvPr/>
        </p:nvSpPr>
        <p:spPr>
          <a:xfrm>
            <a:off x="877824" y="5766816"/>
            <a:ext cx="609600" cy="609600"/>
          </a:xfrm>
          <a:prstGeom prst="ellipse">
            <a:avLst/>
          </a:prstGeom>
          <a:solidFill>
            <a:srgbClr val="CADCFC"/>
          </a:solidFill>
          <a:ln/>
        </p:spPr>
        <p:txBody>
          <a:bodyPr/>
          <a:lstStyle/>
          <a:p>
            <a:endParaRPr lang="en-IN" sz="2400"/>
          </a:p>
        </p:txBody>
      </p:sp>
      <p:pic>
        <p:nvPicPr>
          <p:cNvPr id="26" name="Image 4" descr="preencoded.png"/>
          <p:cNvPicPr>
            <a:picLocks noChangeAspect="1"/>
          </p:cNvPicPr>
          <p:nvPr/>
        </p:nvPicPr>
        <p:blipFill>
          <a:blip r:embed="rId7"/>
          <a:stretch>
            <a:fillRect/>
          </a:stretch>
        </p:blipFill>
        <p:spPr>
          <a:xfrm>
            <a:off x="1024128" y="5925312"/>
            <a:ext cx="316992" cy="316992"/>
          </a:xfrm>
          <a:prstGeom prst="rect">
            <a:avLst/>
          </a:prstGeom>
        </p:spPr>
      </p:pic>
      <p:sp>
        <p:nvSpPr>
          <p:cNvPr id="27" name="Text 20"/>
          <p:cNvSpPr/>
          <p:nvPr/>
        </p:nvSpPr>
        <p:spPr>
          <a:xfrm>
            <a:off x="1767840" y="5718048"/>
            <a:ext cx="9570720" cy="390144"/>
          </a:xfrm>
          <a:prstGeom prst="rect">
            <a:avLst/>
          </a:prstGeom>
          <a:noFill/>
          <a:ln/>
        </p:spPr>
        <p:txBody>
          <a:bodyPr wrap="square" lIns="0" tIns="0" rIns="0" bIns="0" rtlCol="0" anchor="ctr"/>
          <a:lstStyle/>
          <a:p>
            <a:r>
              <a:rPr lang="en-US" sz="1933" b="1" dirty="0">
                <a:solidFill>
                  <a:srgbClr val="1E2761"/>
                </a:solidFill>
                <a:latin typeface="Calibri" pitchFamily="34" charset="0"/>
                <a:ea typeface="Calibri" pitchFamily="34" charset="-122"/>
                <a:cs typeface="Calibri" pitchFamily="34" charset="-120"/>
              </a:rPr>
              <a:t>Keep a control group</a:t>
            </a:r>
            <a:endParaRPr lang="en-US" sz="1933" dirty="0"/>
          </a:p>
        </p:txBody>
      </p:sp>
      <p:sp>
        <p:nvSpPr>
          <p:cNvPr id="28" name="Text 21"/>
          <p:cNvSpPr/>
          <p:nvPr/>
        </p:nvSpPr>
        <p:spPr>
          <a:xfrm>
            <a:off x="1767840" y="6083808"/>
            <a:ext cx="9570720" cy="365760"/>
          </a:xfrm>
          <a:prstGeom prst="rect">
            <a:avLst/>
          </a:prstGeom>
          <a:noFill/>
          <a:ln/>
        </p:spPr>
        <p:txBody>
          <a:bodyPr wrap="square" lIns="0" tIns="0" rIns="0" bIns="0" rtlCol="0" anchor="ctr"/>
          <a:lstStyle/>
          <a:p>
            <a:r>
              <a:rPr lang="en-US" sz="1533" dirty="0">
                <a:solidFill>
                  <a:srgbClr val="2B2F3A"/>
                </a:solidFill>
                <a:latin typeface="Calibri" pitchFamily="34" charset="0"/>
                <a:ea typeface="Calibri" pitchFamily="34" charset="-122"/>
                <a:cs typeface="Calibri" pitchFamily="34" charset="-120"/>
              </a:rPr>
              <a:t>Don't contact a small group on purpose, so we can prove it worked and see the money saved.</a:t>
            </a:r>
            <a:endParaRPr lang="en-US" sz="153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75360" y="1767840"/>
            <a:ext cx="10241280" cy="426720"/>
          </a:xfrm>
          <a:prstGeom prst="rect">
            <a:avLst/>
          </a:prstGeom>
          <a:noFill/>
          <a:ln/>
        </p:spPr>
        <p:txBody>
          <a:bodyPr wrap="square" lIns="0" tIns="0" rIns="0" bIns="0" rtlCol="0" anchor="ctr"/>
          <a:lstStyle/>
          <a:p>
            <a:r>
              <a:rPr lang="en-US" sz="1733" b="1" kern="0" spc="533" dirty="0">
                <a:solidFill>
                  <a:srgbClr val="E8A33D"/>
                </a:solidFill>
                <a:latin typeface="Calibri" pitchFamily="34" charset="0"/>
                <a:ea typeface="Calibri" pitchFamily="34" charset="-122"/>
                <a:cs typeface="Calibri" pitchFamily="34" charset="-120"/>
              </a:rPr>
              <a:t>FROM INSIGHT TO IMPACT</a:t>
            </a:r>
            <a:endParaRPr lang="en-US" sz="1733" dirty="0"/>
          </a:p>
        </p:txBody>
      </p:sp>
      <p:sp>
        <p:nvSpPr>
          <p:cNvPr id="3" name="Text 1"/>
          <p:cNvSpPr/>
          <p:nvPr/>
        </p:nvSpPr>
        <p:spPr>
          <a:xfrm>
            <a:off x="975360" y="2316480"/>
            <a:ext cx="10241280" cy="1219200"/>
          </a:xfrm>
          <a:prstGeom prst="rect">
            <a:avLst/>
          </a:prstGeom>
          <a:noFill/>
          <a:ln/>
        </p:spPr>
        <p:txBody>
          <a:bodyPr wrap="square" lIns="0" tIns="0" rIns="0" bIns="0" rtlCol="0" anchor="ctr"/>
          <a:lstStyle/>
          <a:p>
            <a:pPr>
              <a:lnSpc>
                <a:spcPct val="105000"/>
              </a:lnSpc>
            </a:pPr>
            <a:r>
              <a:rPr lang="en-US" sz="4267" b="1" dirty="0">
                <a:solidFill>
                  <a:srgbClr val="002060"/>
                </a:solidFill>
                <a:latin typeface="Cambria" pitchFamily="34" charset="0"/>
                <a:ea typeface="Cambria" pitchFamily="34" charset="-122"/>
                <a:cs typeface="Cambria" pitchFamily="34" charset="-120"/>
              </a:rPr>
              <a:t>We can already find 3 of every 4 leavers on our top list.</a:t>
            </a:r>
            <a:endParaRPr lang="en-US" sz="4267" dirty="0">
              <a:solidFill>
                <a:srgbClr val="002060"/>
              </a:solidFill>
            </a:endParaRPr>
          </a:p>
        </p:txBody>
      </p:sp>
      <p:sp>
        <p:nvSpPr>
          <p:cNvPr id="4" name="Text 2"/>
          <p:cNvSpPr/>
          <p:nvPr/>
        </p:nvSpPr>
        <p:spPr>
          <a:xfrm>
            <a:off x="999744" y="3962400"/>
            <a:ext cx="9997440" cy="1950720"/>
          </a:xfrm>
          <a:prstGeom prst="rect">
            <a:avLst/>
          </a:prstGeom>
          <a:noFill/>
          <a:ln/>
        </p:spPr>
        <p:txBody>
          <a:bodyPr wrap="square" lIns="0" tIns="0" rIns="0" bIns="0" rtlCol="0" anchor="ctr"/>
          <a:lstStyle/>
          <a:p>
            <a:pPr marL="457189" indent="-457189">
              <a:spcAft>
                <a:spcPts val="1200"/>
              </a:spcAft>
              <a:buSzPct val="100000"/>
              <a:buChar char="•"/>
            </a:pPr>
            <a:r>
              <a:rPr lang="en-US" sz="2133" dirty="0">
                <a:solidFill>
                  <a:srgbClr val="0070C0"/>
                </a:solidFill>
                <a:latin typeface="Calibri" pitchFamily="34" charset="0"/>
                <a:ea typeface="Calibri" pitchFamily="34" charset="-122"/>
                <a:cs typeface="Calibri" pitchFamily="34" charset="-120"/>
              </a:rPr>
              <a:t>Try it on the next campaign, with a control group</a:t>
            </a:r>
            <a:endParaRPr lang="en-US" sz="2133" dirty="0">
              <a:solidFill>
                <a:srgbClr val="0070C0"/>
              </a:solidFill>
            </a:endParaRPr>
          </a:p>
          <a:p>
            <a:pPr marL="457189" indent="-457189">
              <a:spcAft>
                <a:spcPts val="1200"/>
              </a:spcAft>
              <a:buSzPct val="100000"/>
              <a:buChar char="•"/>
            </a:pPr>
            <a:r>
              <a:rPr lang="en-US" sz="2133" dirty="0">
                <a:solidFill>
                  <a:srgbClr val="0070C0"/>
                </a:solidFill>
                <a:latin typeface="Calibri" pitchFamily="34" charset="0"/>
                <a:ea typeface="Calibri" pitchFamily="34" charset="-122"/>
                <a:cs typeface="Calibri" pitchFamily="34" charset="-120"/>
              </a:rPr>
              <a:t>Measure the result in money, not just accuracy</a:t>
            </a:r>
            <a:endParaRPr lang="en-US" sz="2133" dirty="0">
              <a:solidFill>
                <a:srgbClr val="0070C0"/>
              </a:solidFill>
            </a:endParaRPr>
          </a:p>
          <a:p>
            <a:pPr marL="457189" indent="-457189">
              <a:spcAft>
                <a:spcPts val="1200"/>
              </a:spcAft>
              <a:buSzPct val="100000"/>
              <a:buChar char="•"/>
            </a:pPr>
            <a:r>
              <a:rPr lang="en-US" sz="2133" dirty="0">
                <a:solidFill>
                  <a:srgbClr val="0070C0"/>
                </a:solidFill>
                <a:latin typeface="Calibri" pitchFamily="34" charset="0"/>
                <a:ea typeface="Calibri" pitchFamily="34" charset="-122"/>
                <a:cs typeface="Calibri" pitchFamily="34" charset="-120"/>
              </a:rPr>
              <a:t>Refresh the model every quarter as new results come in</a:t>
            </a:r>
            <a:endParaRPr lang="en-US" sz="2133" dirty="0">
              <a:solidFill>
                <a:srgbClr val="0070C0"/>
              </a:solidFill>
            </a:endParaRP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TotalTime>
  <Words>2106</Words>
  <Application>Microsoft Macintosh PowerPoint</Application>
  <PresentationFormat>Widescreen</PresentationFormat>
  <Paragraphs>54</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Cambria</vt:lpstr>
      <vt:lpstr>Office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Lutziger</dc:creator>
  <cp:lastModifiedBy>Lutziger Daniel (lutzidan)</cp:lastModifiedBy>
  <cp:revision>2</cp:revision>
  <dcterms:created xsi:type="dcterms:W3CDTF">2026-06-17T22:17:10Z</dcterms:created>
  <dcterms:modified xsi:type="dcterms:W3CDTF">2026-06-18T13:32:49Z</dcterms:modified>
</cp:coreProperties>
</file>