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charts/chart2.xml" ContentType="application/vnd.openxmlformats-officedocument.drawingml.chart+xml"/>
  <Override PartName="/ppt/notesSlides/notesSlide4.xml" ContentType="application/vnd.openxmlformats-officedocument.presentationml.notesSlide+xml"/>
  <Override PartName="/ppt/charts/chart3.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5" autoAdjust="0"/>
    <p:restoredTop sz="94660"/>
  </p:normalViewPr>
  <p:slideViewPr>
    <p:cSldViewPr snapToGrid="0">
      <p:cViewPr varScale="1">
        <p:scale>
          <a:sx n="150" d="100"/>
          <a:sy n="150" d="100"/>
        </p:scale>
        <p:origin x="318"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barChart>
        <c:barDir val="col"/>
        <c:grouping val="clustered"/>
        <c:varyColors val="0"/>
        <c:ser>
          <c:idx val="0"/>
          <c:order val="0"/>
          <c:tx>
            <c:strRef>
              <c:f>Sheet1!$B$1</c:f>
              <c:strCache>
                <c:ptCount val="1"/>
                <c:pt idx="0">
                  <c:v>Churners</c:v>
                </c:pt>
              </c:strCache>
            </c:strRef>
          </c:tx>
          <c:spPr>
            <a:solidFill>
              <a:srgbClr val="E8A33D"/>
            </a:solidFill>
            <a:effectLst/>
          </c:spPr>
          <c:invertIfNegative val="0"/>
          <c:dPt>
            <c:idx val="0"/>
            <c:invertIfNegative val="0"/>
            <c:bubble3D val="0"/>
            <c:spPr>
              <a:solidFill>
                <a:srgbClr val="E8A33D"/>
              </a:solidFill>
              <a:effectLst/>
            </c:spPr>
            <c:extLst>
              <c:ext xmlns:c16="http://schemas.microsoft.com/office/drawing/2014/chart" uri="{C3380CC4-5D6E-409C-BE32-E72D297353CC}">
                <c16:uniqueId val="{00000001-7661-473A-BE7B-0A119F6B4B41}"/>
              </c:ext>
            </c:extLst>
          </c:dPt>
          <c:dPt>
            <c:idx val="1"/>
            <c:invertIfNegative val="0"/>
            <c:bubble3D val="0"/>
            <c:spPr>
              <a:solidFill>
                <a:srgbClr val="B8C0D4"/>
              </a:solidFill>
              <a:effectLst/>
            </c:spPr>
            <c:extLst>
              <c:ext xmlns:c16="http://schemas.microsoft.com/office/drawing/2014/chart" uri="{C3380CC4-5D6E-409C-BE32-E72D297353CC}">
                <c16:uniqueId val="{00000003-7661-473A-BE7B-0A119F6B4B41}"/>
              </c:ext>
            </c:extLst>
          </c:dPt>
          <c:dLbls>
            <c:numFmt formatCode="#,##0" sourceLinked="0"/>
            <c:spPr>
              <a:noFill/>
              <a:ln>
                <a:noFill/>
              </a:ln>
              <a:effectLst/>
            </c:spPr>
            <c:txPr>
              <a:bodyPr/>
              <a:lstStyle/>
              <a:p>
                <a:pPr>
                  <a:defRPr sz="1500" b="1" i="0" u="none" strike="noStrike">
                    <a:solidFill>
                      <a:srgbClr val="1E2761"/>
                    </a:solidFill>
                    <a:latin typeface="Calibri"/>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Model's top list</c:v>
                </c:pt>
                <c:pt idx="1">
                  <c:v>Random pick</c:v>
                </c:pt>
              </c:strCache>
            </c:strRef>
          </c:cat>
          <c:val>
            <c:numRef>
              <c:f>Sheet1!$B$2:$B$3</c:f>
              <c:numCache>
                <c:formatCode>General</c:formatCode>
                <c:ptCount val="2"/>
                <c:pt idx="0">
                  <c:v>77</c:v>
                </c:pt>
                <c:pt idx="1">
                  <c:v>27</c:v>
                </c:pt>
              </c:numCache>
            </c:numRef>
          </c:val>
          <c:extLst>
            <c:ext xmlns:c16="http://schemas.microsoft.com/office/drawing/2014/chart" uri="{C3380CC4-5D6E-409C-BE32-E72D297353CC}">
              <c16:uniqueId val="{00000004-7661-473A-BE7B-0A119F6B4B4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F3A"/>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barChart>
        <c:barDir val="bar"/>
        <c:grouping val="clustered"/>
        <c:varyColors val="0"/>
        <c:ser>
          <c:idx val="0"/>
          <c:order val="0"/>
          <c:tx>
            <c:strRef>
              <c:f>Sheet1!$B$1</c:f>
              <c:strCache>
                <c:ptCount val="1"/>
                <c:pt idx="0">
                  <c:v>Churn rate %</c:v>
                </c:pt>
              </c:strCache>
            </c:strRef>
          </c:tx>
          <c:spPr>
            <a:solidFill>
              <a:srgbClr val="E8A33D"/>
            </a:solidFill>
            <a:effectLst/>
          </c:spPr>
          <c:invertIfNegative val="0"/>
          <c:dPt>
            <c:idx val="0"/>
            <c:invertIfNegative val="0"/>
            <c:bubble3D val="0"/>
            <c:spPr>
              <a:solidFill>
                <a:srgbClr val="E8A33D"/>
              </a:solidFill>
              <a:effectLst/>
            </c:spPr>
            <c:extLst>
              <c:ext xmlns:c16="http://schemas.microsoft.com/office/drawing/2014/chart" uri="{C3380CC4-5D6E-409C-BE32-E72D297353CC}">
                <c16:uniqueId val="{00000001-0230-42B3-AF56-38822361DA54}"/>
              </c:ext>
            </c:extLst>
          </c:dPt>
          <c:dPt>
            <c:idx val="1"/>
            <c:invertIfNegative val="0"/>
            <c:bubble3D val="0"/>
            <c:spPr>
              <a:solidFill>
                <a:srgbClr val="E8A33D"/>
              </a:solidFill>
              <a:effectLst/>
            </c:spPr>
            <c:extLst>
              <c:ext xmlns:c16="http://schemas.microsoft.com/office/drawing/2014/chart" uri="{C3380CC4-5D6E-409C-BE32-E72D297353CC}">
                <c16:uniqueId val="{00000003-0230-42B3-AF56-38822361DA54}"/>
              </c:ext>
            </c:extLst>
          </c:dPt>
          <c:dPt>
            <c:idx val="2"/>
            <c:invertIfNegative val="0"/>
            <c:bubble3D val="0"/>
            <c:spPr>
              <a:solidFill>
                <a:srgbClr val="E8A33D"/>
              </a:solidFill>
              <a:effectLst/>
            </c:spPr>
            <c:extLst>
              <c:ext xmlns:c16="http://schemas.microsoft.com/office/drawing/2014/chart" uri="{C3380CC4-5D6E-409C-BE32-E72D297353CC}">
                <c16:uniqueId val="{00000005-0230-42B3-AF56-38822361DA54}"/>
              </c:ext>
            </c:extLst>
          </c:dPt>
          <c:dPt>
            <c:idx val="3"/>
            <c:invertIfNegative val="0"/>
            <c:bubble3D val="0"/>
            <c:spPr>
              <a:solidFill>
                <a:srgbClr val="E8A33D"/>
              </a:solidFill>
              <a:effectLst/>
            </c:spPr>
            <c:extLst>
              <c:ext xmlns:c16="http://schemas.microsoft.com/office/drawing/2014/chart" uri="{C3380CC4-5D6E-409C-BE32-E72D297353CC}">
                <c16:uniqueId val="{00000007-0230-42B3-AF56-38822361DA54}"/>
              </c:ext>
            </c:extLst>
          </c:dPt>
          <c:dPt>
            <c:idx val="4"/>
            <c:invertIfNegative val="0"/>
            <c:bubble3D val="0"/>
            <c:spPr>
              <a:solidFill>
                <a:srgbClr val="1E2761"/>
              </a:solidFill>
              <a:effectLst/>
            </c:spPr>
            <c:extLst>
              <c:ext xmlns:c16="http://schemas.microsoft.com/office/drawing/2014/chart" uri="{C3380CC4-5D6E-409C-BE32-E72D297353CC}">
                <c16:uniqueId val="{00000009-0230-42B3-AF56-38822361DA54}"/>
              </c:ext>
            </c:extLst>
          </c:dPt>
          <c:dLbls>
            <c:numFmt formatCode="#,##0" sourceLinked="0"/>
            <c:spPr>
              <a:noFill/>
              <a:ln>
                <a:noFill/>
              </a:ln>
              <a:effectLst/>
            </c:spPr>
            <c:txPr>
              <a:bodyPr/>
              <a:lstStyle/>
              <a:p>
                <a:pPr>
                  <a:defRPr sz="1200" b="1" i="0" u="none" strike="noStrike">
                    <a:solidFill>
                      <a:srgbClr val="1E2761"/>
                    </a:solidFill>
                    <a:latin typeface="Calibri"/>
                  </a:defRPr>
                </a:pPr>
                <a:endParaRPr lang="de-D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Electronic check</c:v>
                </c:pt>
                <c:pt idx="1">
                  <c:v>Month-to-month</c:v>
                </c:pt>
                <c:pt idx="2">
                  <c:v>No tech support</c:v>
                </c:pt>
                <c:pt idx="3">
                  <c:v>Fiber optic</c:v>
                </c:pt>
                <c:pt idx="4">
                  <c:v>Company average</c:v>
                </c:pt>
              </c:strCache>
            </c:strRef>
          </c:cat>
          <c:val>
            <c:numRef>
              <c:f>Sheet1!$B$2:$B$6</c:f>
              <c:numCache>
                <c:formatCode>General</c:formatCode>
                <c:ptCount val="5"/>
                <c:pt idx="0">
                  <c:v>45</c:v>
                </c:pt>
                <c:pt idx="1">
                  <c:v>43</c:v>
                </c:pt>
                <c:pt idx="2">
                  <c:v>42</c:v>
                </c:pt>
                <c:pt idx="3">
                  <c:v>42</c:v>
                </c:pt>
                <c:pt idx="4">
                  <c:v>27</c:v>
                </c:pt>
              </c:numCache>
            </c:numRef>
          </c:val>
          <c:extLst>
            <c:ext xmlns:c16="http://schemas.microsoft.com/office/drawing/2014/chart" uri="{C3380CC4-5D6E-409C-BE32-E72D297353CC}">
              <c16:uniqueId val="{0000000A-0230-42B3-AF56-38822361DA54}"/>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B2F3A"/>
                </a:solidFill>
                <a:latin typeface="Calibri"/>
              </a:defRPr>
            </a:pPr>
            <a:endParaRPr lang="en-US"/>
          </a:p>
        </c:txPr>
        <c:crossAx val="2094734552"/>
        <c:crosses val="autoZero"/>
        <c:auto val="1"/>
        <c:lblAlgn val="ctr"/>
        <c:lblOffset val="100"/>
        <c:noMultiLvlLbl val="1"/>
      </c:catAx>
      <c:valAx>
        <c:axId val="2094734552"/>
        <c:scaling>
          <c:orientation val="minMax"/>
          <c:max val="55"/>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1"/>
  <c:style val="2"/>
  <c:chart>
    <c:autoTitleDeleted val="1"/>
    <c:plotArea>
      <c:layout/>
      <c:lineChart>
        <c:grouping val="standard"/>
        <c:varyColors val="0"/>
        <c:ser>
          <c:idx val="0"/>
          <c:order val="0"/>
          <c:tx>
            <c:strRef>
              <c:f>Sheet1!$B$1</c:f>
              <c:strCache>
                <c:ptCount val="1"/>
                <c:pt idx="0">
                  <c:v>Expected return (€k)</c:v>
                </c:pt>
              </c:strCache>
            </c:strRef>
          </c:tx>
          <c:spPr>
            <a:ln w="38100" cap="flat">
              <a:solidFill>
                <a:srgbClr val="1E2761"/>
              </a:solidFill>
              <a:prstDash val="solid"/>
              <a:round/>
            </a:ln>
            <a:effectLst/>
          </c:spPr>
          <c:marker>
            <c:symbol val="circle"/>
            <c:size val="5"/>
            <c:spPr>
              <a:solidFill>
                <a:srgbClr val="1E2761"/>
              </a:solidFill>
              <a:ln w="9525" cap="flat">
                <a:solidFill>
                  <a:srgbClr val="1E2761"/>
                </a:solidFill>
                <a:prstDash val="solid"/>
                <a:round/>
              </a:ln>
              <a:effectLst/>
            </c:spPr>
          </c:marker>
          <c:cat>
            <c:strRef>
              <c:f>Sheet1!$A$2:$A$11</c:f>
              <c:strCache>
                <c:ptCount val="10"/>
                <c:pt idx="0">
                  <c:v>0%</c:v>
                </c:pt>
                <c:pt idx="1">
                  <c:v>10%</c:v>
                </c:pt>
                <c:pt idx="2">
                  <c:v>20%</c:v>
                </c:pt>
                <c:pt idx="3">
                  <c:v>30%</c:v>
                </c:pt>
                <c:pt idx="4">
                  <c:v>40%</c:v>
                </c:pt>
                <c:pt idx="5">
                  <c:v>50%</c:v>
                </c:pt>
                <c:pt idx="6">
                  <c:v>60%</c:v>
                </c:pt>
                <c:pt idx="7">
                  <c:v>70%</c:v>
                </c:pt>
                <c:pt idx="8">
                  <c:v>80%</c:v>
                </c:pt>
                <c:pt idx="9">
                  <c:v>90%</c:v>
                </c:pt>
              </c:strCache>
            </c:strRef>
          </c:cat>
          <c:val>
            <c:numRef>
              <c:f>Sheet1!$B$2:$B$11</c:f>
              <c:numCache>
                <c:formatCode>General</c:formatCode>
                <c:ptCount val="10"/>
                <c:pt idx="0">
                  <c:v>0</c:v>
                </c:pt>
                <c:pt idx="1">
                  <c:v>18.3</c:v>
                </c:pt>
                <c:pt idx="2">
                  <c:v>29.2</c:v>
                </c:pt>
                <c:pt idx="3">
                  <c:v>31.6</c:v>
                </c:pt>
                <c:pt idx="4">
                  <c:v>28.7</c:v>
                </c:pt>
                <c:pt idx="5">
                  <c:v>23.5</c:v>
                </c:pt>
                <c:pt idx="6">
                  <c:v>16.2</c:v>
                </c:pt>
                <c:pt idx="7">
                  <c:v>7.1</c:v>
                </c:pt>
                <c:pt idx="8">
                  <c:v>-3.6</c:v>
                </c:pt>
                <c:pt idx="9">
                  <c:v>-15</c:v>
                </c:pt>
              </c:numCache>
            </c:numRef>
          </c:val>
          <c:smooth val="1"/>
          <c:extLst>
            <c:ext xmlns:c16="http://schemas.microsoft.com/office/drawing/2014/chart" uri="{C3380CC4-5D6E-409C-BE32-E72D297353CC}">
              <c16:uniqueId val="{00000000-E0A2-4C93-A834-B435BF30F1E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B7280"/>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C65320-8B45-410B-BA24-D5EBCE8E6ECF}" type="datetimeFigureOut">
              <a:rPr lang="de-CH" smtClean="0"/>
              <a:t>18.06.2026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1BB6F6-55F9-4630-8E64-93D9E0063F68}" type="slidenum">
              <a:rPr lang="de-CH" smtClean="0"/>
              <a:t>‹Nr.›</a:t>
            </a:fld>
            <a:endParaRPr lang="de-CH"/>
          </a:p>
        </p:txBody>
      </p:sp>
    </p:spTree>
    <p:extLst>
      <p:ext uri="{BB962C8B-B14F-4D97-AF65-F5344CB8AC3E}">
        <p14:creationId xmlns:p14="http://schemas.microsoft.com/office/powerpoint/2010/main" val="21798738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retention is far cheaper than acquisition, and we can now predict who is about to leave. This deck shows the value, why customers churn, how we'd use it, and what to do.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If the campaign team contacts 100 customers from the model's top list, about 77 would really have churned, versus only ~27 if they picked at random. That is the 2.9x. ROC-AUC 0.84 is the technical discrimination number for the analysts in the room.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methods — a model-free association measure and the model's own SHAP attribution — agree on the same drivers, which is why we trust them. Contract type is the single biggest, then early tenure, then the fiber/price story, plus payment method. The profile box is the 'face' of a likely leaver.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ranking tool, not a yes/no classifier. Campaign managers take the top-K, where K comes from their budget. The curve shows that going too wide wastes offers on people who would have stayed — there's a sweet spot. The exact optimum depends on finance's numbers; the analysis provides the curve.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actions, ordered by leverage. The first three come straight from the drivers. The fourth addresses the early-tenure cliff. The fifth is how we prove it works and turn the assumed save-rate into a measured one — it feeds back into the profit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action: this is ready to pilot. Run it on the next campaign against a control group so we can put a euro figure on the return, then retrain quarterly.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7B9D78-988D-DF73-4004-2A225145EA41}"/>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de-CH"/>
          </a:p>
        </p:txBody>
      </p:sp>
      <p:sp>
        <p:nvSpPr>
          <p:cNvPr id="3" name="Untertitel 2">
            <a:extLst>
              <a:ext uri="{FF2B5EF4-FFF2-40B4-BE49-F238E27FC236}">
                <a16:creationId xmlns:a16="http://schemas.microsoft.com/office/drawing/2014/main" id="{E6A2209A-99D8-C0B7-F01E-C80150CA93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a:p>
        </p:txBody>
      </p:sp>
      <p:sp>
        <p:nvSpPr>
          <p:cNvPr id="4" name="Datumsplatzhalter 3">
            <a:extLst>
              <a:ext uri="{FF2B5EF4-FFF2-40B4-BE49-F238E27FC236}">
                <a16:creationId xmlns:a16="http://schemas.microsoft.com/office/drawing/2014/main" id="{FF3BD168-F77E-AE4D-511F-40834846A51C}"/>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5" name="Fußzeilenplatzhalter 4">
            <a:extLst>
              <a:ext uri="{FF2B5EF4-FFF2-40B4-BE49-F238E27FC236}">
                <a16:creationId xmlns:a16="http://schemas.microsoft.com/office/drawing/2014/main" id="{51BE893B-8FAD-CD0E-CA1D-5A2405FA3518}"/>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FFDD0518-DE11-6A07-9428-570A6118BBC5}"/>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3628261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A32CB5-0FEF-1ADF-EC0C-A9192D62BB5B}"/>
              </a:ext>
            </a:extLst>
          </p:cNvPr>
          <p:cNvSpPr>
            <a:spLocks noGrp="1"/>
          </p:cNvSpPr>
          <p:nvPr>
            <p:ph type="title"/>
          </p:nvPr>
        </p:nvSpPr>
        <p:spPr/>
        <p:txBody>
          <a:bodyPr/>
          <a:lstStyle/>
          <a:p>
            <a:r>
              <a:rPr lang="de-DE"/>
              <a:t>Mastertitelformat bearbeiten</a:t>
            </a:r>
            <a:endParaRPr lang="de-CH"/>
          </a:p>
        </p:txBody>
      </p:sp>
      <p:sp>
        <p:nvSpPr>
          <p:cNvPr id="3" name="Inhaltsplatzhalter 2">
            <a:extLst>
              <a:ext uri="{FF2B5EF4-FFF2-40B4-BE49-F238E27FC236}">
                <a16:creationId xmlns:a16="http://schemas.microsoft.com/office/drawing/2014/main" id="{9DC1D693-43F5-6781-4AB1-ED0675EC9EDD}"/>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D47BFB5D-6DB1-9969-555C-39A2A6A33773}"/>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5" name="Fußzeilenplatzhalter 4">
            <a:extLst>
              <a:ext uri="{FF2B5EF4-FFF2-40B4-BE49-F238E27FC236}">
                <a16:creationId xmlns:a16="http://schemas.microsoft.com/office/drawing/2014/main" id="{325EF769-28E9-0024-56D2-1264F82B37EE}"/>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2EE724D2-AFFB-44B6-4D4B-4B7641DB7792}"/>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34808084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CD4CD70-A805-D87B-F977-F1108AF4D1B1}"/>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de-CH"/>
          </a:p>
        </p:txBody>
      </p:sp>
      <p:sp>
        <p:nvSpPr>
          <p:cNvPr id="3" name="Textplatzhalter 2">
            <a:extLst>
              <a:ext uri="{FF2B5EF4-FFF2-40B4-BE49-F238E27FC236}">
                <a16:creationId xmlns:a16="http://schemas.microsoft.com/office/drawing/2014/main" id="{857D0638-3F9B-E0A3-E6C7-93DE8DCEBE9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C95E5A16-E443-4B72-2C47-8A3F87DC85A3}"/>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5" name="Fußzeilenplatzhalter 4">
            <a:extLst>
              <a:ext uri="{FF2B5EF4-FFF2-40B4-BE49-F238E27FC236}">
                <a16:creationId xmlns:a16="http://schemas.microsoft.com/office/drawing/2014/main" id="{5FCA08F8-D8FC-9570-23F9-51D19F5C98BD}"/>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583AFFC7-9036-CB88-535E-3CF5572934DF}"/>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26623964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3684501-1C53-96C0-E1A1-3D2A4BE2D52F}"/>
              </a:ext>
            </a:extLst>
          </p:cNvPr>
          <p:cNvSpPr>
            <a:spLocks noGrp="1"/>
          </p:cNvSpPr>
          <p:nvPr>
            <p:ph type="title"/>
          </p:nvPr>
        </p:nvSpPr>
        <p:spPr/>
        <p:txBody>
          <a:bodyPr/>
          <a:lstStyle/>
          <a:p>
            <a:r>
              <a:rPr lang="de-DE"/>
              <a:t>Mastertitelformat bearbeiten</a:t>
            </a:r>
            <a:endParaRPr lang="de-CH"/>
          </a:p>
        </p:txBody>
      </p:sp>
      <p:sp>
        <p:nvSpPr>
          <p:cNvPr id="3" name="Inhaltsplatzhalter 2">
            <a:extLst>
              <a:ext uri="{FF2B5EF4-FFF2-40B4-BE49-F238E27FC236}">
                <a16:creationId xmlns:a16="http://schemas.microsoft.com/office/drawing/2014/main" id="{51E5E6F7-613B-50AB-4FD7-DF7332E3A960}"/>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Inhaltsplatzhalter 3">
            <a:extLst>
              <a:ext uri="{FF2B5EF4-FFF2-40B4-BE49-F238E27FC236}">
                <a16:creationId xmlns:a16="http://schemas.microsoft.com/office/drawing/2014/main" id="{47A2154E-C43C-1AAD-E627-FB3C56A8BA95}"/>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5" name="Datumsplatzhalter 4">
            <a:extLst>
              <a:ext uri="{FF2B5EF4-FFF2-40B4-BE49-F238E27FC236}">
                <a16:creationId xmlns:a16="http://schemas.microsoft.com/office/drawing/2014/main" id="{F929FE75-3B2D-0C3C-D6A7-9546F59AE1C9}"/>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6" name="Fußzeilenplatzhalter 5">
            <a:extLst>
              <a:ext uri="{FF2B5EF4-FFF2-40B4-BE49-F238E27FC236}">
                <a16:creationId xmlns:a16="http://schemas.microsoft.com/office/drawing/2014/main" id="{72AD077F-3F3E-C4C0-F882-948B548F4090}"/>
              </a:ext>
            </a:extLst>
          </p:cNvPr>
          <p:cNvSpPr>
            <a:spLocks noGrp="1"/>
          </p:cNvSpPr>
          <p:nvPr>
            <p:ph type="ftr" sz="quarter" idx="11"/>
          </p:nvPr>
        </p:nvSpPr>
        <p:spPr/>
        <p:txBody>
          <a:bodyPr/>
          <a:lstStyle/>
          <a:p>
            <a:endParaRPr lang="de-CH"/>
          </a:p>
        </p:txBody>
      </p:sp>
      <p:sp>
        <p:nvSpPr>
          <p:cNvPr id="7" name="Foliennummernplatzhalter 6">
            <a:extLst>
              <a:ext uri="{FF2B5EF4-FFF2-40B4-BE49-F238E27FC236}">
                <a16:creationId xmlns:a16="http://schemas.microsoft.com/office/drawing/2014/main" id="{25453C23-9135-62E8-2765-00DD684B8CA8}"/>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1476420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C3BE1C-173D-2CDF-FBD9-039851B69219}"/>
              </a:ext>
            </a:extLst>
          </p:cNvPr>
          <p:cNvSpPr>
            <a:spLocks noGrp="1"/>
          </p:cNvSpPr>
          <p:nvPr>
            <p:ph type="title"/>
          </p:nvPr>
        </p:nvSpPr>
        <p:spPr>
          <a:xfrm>
            <a:off x="839788" y="365125"/>
            <a:ext cx="10515600" cy="1325563"/>
          </a:xfrm>
        </p:spPr>
        <p:txBody>
          <a:bodyPr/>
          <a:lstStyle/>
          <a:p>
            <a:r>
              <a:rPr lang="de-DE"/>
              <a:t>Mastertitelformat bearbeiten</a:t>
            </a:r>
            <a:endParaRPr lang="de-CH"/>
          </a:p>
        </p:txBody>
      </p:sp>
      <p:sp>
        <p:nvSpPr>
          <p:cNvPr id="3" name="Textplatzhalter 2">
            <a:extLst>
              <a:ext uri="{FF2B5EF4-FFF2-40B4-BE49-F238E27FC236}">
                <a16:creationId xmlns:a16="http://schemas.microsoft.com/office/drawing/2014/main" id="{F9CF739C-FCBF-559A-976B-BB684394A1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06CD0C4-DE0D-8C0A-B885-0F74FD9E3C35}"/>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5" name="Textplatzhalter 4">
            <a:extLst>
              <a:ext uri="{FF2B5EF4-FFF2-40B4-BE49-F238E27FC236}">
                <a16:creationId xmlns:a16="http://schemas.microsoft.com/office/drawing/2014/main" id="{C947B5B9-C51C-C207-4365-97EFA1A410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92DAE84C-3197-E178-5A51-527BA7BFF437}"/>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7" name="Datumsplatzhalter 6">
            <a:extLst>
              <a:ext uri="{FF2B5EF4-FFF2-40B4-BE49-F238E27FC236}">
                <a16:creationId xmlns:a16="http://schemas.microsoft.com/office/drawing/2014/main" id="{83BC5DFF-9E7C-3CC2-F266-CC5407C638F3}"/>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8" name="Fußzeilenplatzhalter 7">
            <a:extLst>
              <a:ext uri="{FF2B5EF4-FFF2-40B4-BE49-F238E27FC236}">
                <a16:creationId xmlns:a16="http://schemas.microsoft.com/office/drawing/2014/main" id="{85693B33-BB22-34C2-E545-0F1A1E829AE9}"/>
              </a:ext>
            </a:extLst>
          </p:cNvPr>
          <p:cNvSpPr>
            <a:spLocks noGrp="1"/>
          </p:cNvSpPr>
          <p:nvPr>
            <p:ph type="ftr" sz="quarter" idx="11"/>
          </p:nvPr>
        </p:nvSpPr>
        <p:spPr/>
        <p:txBody>
          <a:bodyPr/>
          <a:lstStyle/>
          <a:p>
            <a:endParaRPr lang="de-CH"/>
          </a:p>
        </p:txBody>
      </p:sp>
      <p:sp>
        <p:nvSpPr>
          <p:cNvPr id="9" name="Foliennummernplatzhalter 8">
            <a:extLst>
              <a:ext uri="{FF2B5EF4-FFF2-40B4-BE49-F238E27FC236}">
                <a16:creationId xmlns:a16="http://schemas.microsoft.com/office/drawing/2014/main" id="{50239953-E473-515A-AB4E-FB240FF6B770}"/>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2903412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A6EF-AC7F-CA58-F461-99BF562CAE43}"/>
              </a:ext>
            </a:extLst>
          </p:cNvPr>
          <p:cNvSpPr>
            <a:spLocks noGrp="1"/>
          </p:cNvSpPr>
          <p:nvPr>
            <p:ph type="title"/>
          </p:nvPr>
        </p:nvSpPr>
        <p:spPr/>
        <p:txBody>
          <a:bodyPr/>
          <a:lstStyle/>
          <a:p>
            <a:r>
              <a:rPr lang="de-DE"/>
              <a:t>Mastertitelformat bearbeiten</a:t>
            </a:r>
            <a:endParaRPr lang="de-CH"/>
          </a:p>
        </p:txBody>
      </p:sp>
      <p:sp>
        <p:nvSpPr>
          <p:cNvPr id="3" name="Datumsplatzhalter 2">
            <a:extLst>
              <a:ext uri="{FF2B5EF4-FFF2-40B4-BE49-F238E27FC236}">
                <a16:creationId xmlns:a16="http://schemas.microsoft.com/office/drawing/2014/main" id="{C8D9F1CD-A3BE-BCCA-49AA-8C794042FFB2}"/>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4" name="Fußzeilenplatzhalter 3">
            <a:extLst>
              <a:ext uri="{FF2B5EF4-FFF2-40B4-BE49-F238E27FC236}">
                <a16:creationId xmlns:a16="http://schemas.microsoft.com/office/drawing/2014/main" id="{DC98FAA4-ED29-EE1C-8713-442635544C23}"/>
              </a:ext>
            </a:extLst>
          </p:cNvPr>
          <p:cNvSpPr>
            <a:spLocks noGrp="1"/>
          </p:cNvSpPr>
          <p:nvPr>
            <p:ph type="ftr" sz="quarter" idx="11"/>
          </p:nvPr>
        </p:nvSpPr>
        <p:spPr/>
        <p:txBody>
          <a:bodyPr/>
          <a:lstStyle/>
          <a:p>
            <a:endParaRPr lang="de-CH"/>
          </a:p>
        </p:txBody>
      </p:sp>
      <p:sp>
        <p:nvSpPr>
          <p:cNvPr id="5" name="Foliennummernplatzhalter 4">
            <a:extLst>
              <a:ext uri="{FF2B5EF4-FFF2-40B4-BE49-F238E27FC236}">
                <a16:creationId xmlns:a16="http://schemas.microsoft.com/office/drawing/2014/main" id="{009944DB-09F6-2A23-F433-AB87AAF2E968}"/>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41518677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05D00F7-61C5-01DF-C8DA-D3BA070A06D5}"/>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3" name="Fußzeilenplatzhalter 2">
            <a:extLst>
              <a:ext uri="{FF2B5EF4-FFF2-40B4-BE49-F238E27FC236}">
                <a16:creationId xmlns:a16="http://schemas.microsoft.com/office/drawing/2014/main" id="{F081ADD9-5BD8-6FF9-226E-B03701A38F8A}"/>
              </a:ext>
            </a:extLst>
          </p:cNvPr>
          <p:cNvSpPr>
            <a:spLocks noGrp="1"/>
          </p:cNvSpPr>
          <p:nvPr>
            <p:ph type="ftr" sz="quarter" idx="11"/>
          </p:nvPr>
        </p:nvSpPr>
        <p:spPr/>
        <p:txBody>
          <a:bodyPr/>
          <a:lstStyle/>
          <a:p>
            <a:endParaRPr lang="de-CH"/>
          </a:p>
        </p:txBody>
      </p:sp>
      <p:sp>
        <p:nvSpPr>
          <p:cNvPr id="4" name="Foliennummernplatzhalter 3">
            <a:extLst>
              <a:ext uri="{FF2B5EF4-FFF2-40B4-BE49-F238E27FC236}">
                <a16:creationId xmlns:a16="http://schemas.microsoft.com/office/drawing/2014/main" id="{23749CC3-EBE0-3AE0-A21F-863CED5BDC1E}"/>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11071804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BCC835-18CE-4660-6B3F-8A80E4592767}"/>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CH"/>
          </a:p>
        </p:txBody>
      </p:sp>
      <p:sp>
        <p:nvSpPr>
          <p:cNvPr id="3" name="Inhaltsplatzhalter 2">
            <a:extLst>
              <a:ext uri="{FF2B5EF4-FFF2-40B4-BE49-F238E27FC236}">
                <a16:creationId xmlns:a16="http://schemas.microsoft.com/office/drawing/2014/main" id="{2FAEB27C-2C88-B141-CAD1-039B65783D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Textplatzhalter 3">
            <a:extLst>
              <a:ext uri="{FF2B5EF4-FFF2-40B4-BE49-F238E27FC236}">
                <a16:creationId xmlns:a16="http://schemas.microsoft.com/office/drawing/2014/main" id="{84EECB79-0D4E-B8CD-15F0-513E05A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436B94C0-0BE2-0E4B-75A7-912795932703}"/>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6" name="Fußzeilenplatzhalter 5">
            <a:extLst>
              <a:ext uri="{FF2B5EF4-FFF2-40B4-BE49-F238E27FC236}">
                <a16:creationId xmlns:a16="http://schemas.microsoft.com/office/drawing/2014/main" id="{CEC9EC5F-9701-411F-9366-128F92620857}"/>
              </a:ext>
            </a:extLst>
          </p:cNvPr>
          <p:cNvSpPr>
            <a:spLocks noGrp="1"/>
          </p:cNvSpPr>
          <p:nvPr>
            <p:ph type="ftr" sz="quarter" idx="11"/>
          </p:nvPr>
        </p:nvSpPr>
        <p:spPr/>
        <p:txBody>
          <a:bodyPr/>
          <a:lstStyle/>
          <a:p>
            <a:endParaRPr lang="de-CH"/>
          </a:p>
        </p:txBody>
      </p:sp>
      <p:sp>
        <p:nvSpPr>
          <p:cNvPr id="7" name="Foliennummernplatzhalter 6">
            <a:extLst>
              <a:ext uri="{FF2B5EF4-FFF2-40B4-BE49-F238E27FC236}">
                <a16:creationId xmlns:a16="http://schemas.microsoft.com/office/drawing/2014/main" id="{3F2D6238-8C00-0A63-1849-3E9FFE9309D7}"/>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39782436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2F817B-F658-B423-F44D-02C5ED660211}"/>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de-CH"/>
          </a:p>
        </p:txBody>
      </p:sp>
      <p:sp>
        <p:nvSpPr>
          <p:cNvPr id="3" name="Bildplatzhalter 2">
            <a:extLst>
              <a:ext uri="{FF2B5EF4-FFF2-40B4-BE49-F238E27FC236}">
                <a16:creationId xmlns:a16="http://schemas.microsoft.com/office/drawing/2014/main" id="{553A0C50-18D6-AF36-8D2B-FF0162327E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platzhalter 3">
            <a:extLst>
              <a:ext uri="{FF2B5EF4-FFF2-40B4-BE49-F238E27FC236}">
                <a16:creationId xmlns:a16="http://schemas.microsoft.com/office/drawing/2014/main" id="{B3AFCB99-A7CD-C784-B9C0-D3320001D1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CEA645B-824C-A2C5-D4C7-EE2E22E1FBB5}"/>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6" name="Fußzeilenplatzhalter 5">
            <a:extLst>
              <a:ext uri="{FF2B5EF4-FFF2-40B4-BE49-F238E27FC236}">
                <a16:creationId xmlns:a16="http://schemas.microsoft.com/office/drawing/2014/main" id="{C4EA7617-A29C-494C-59F5-3AC4D03E47EB}"/>
              </a:ext>
            </a:extLst>
          </p:cNvPr>
          <p:cNvSpPr>
            <a:spLocks noGrp="1"/>
          </p:cNvSpPr>
          <p:nvPr>
            <p:ph type="ftr" sz="quarter" idx="11"/>
          </p:nvPr>
        </p:nvSpPr>
        <p:spPr/>
        <p:txBody>
          <a:bodyPr/>
          <a:lstStyle/>
          <a:p>
            <a:endParaRPr lang="de-CH"/>
          </a:p>
        </p:txBody>
      </p:sp>
      <p:sp>
        <p:nvSpPr>
          <p:cNvPr id="7" name="Foliennummernplatzhalter 6">
            <a:extLst>
              <a:ext uri="{FF2B5EF4-FFF2-40B4-BE49-F238E27FC236}">
                <a16:creationId xmlns:a16="http://schemas.microsoft.com/office/drawing/2014/main" id="{B46E509D-71F2-3A17-CF62-3AFA9FE55FFA}"/>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1769188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B69D1D-1AA5-06E3-4B5D-4E2ED375CCA9}"/>
              </a:ext>
            </a:extLst>
          </p:cNvPr>
          <p:cNvSpPr>
            <a:spLocks noGrp="1"/>
          </p:cNvSpPr>
          <p:nvPr>
            <p:ph type="title"/>
          </p:nvPr>
        </p:nvSpPr>
        <p:spPr/>
        <p:txBody>
          <a:bodyPr/>
          <a:lstStyle/>
          <a:p>
            <a:r>
              <a:rPr lang="de-DE"/>
              <a:t>Mastertitelformat bearbeiten</a:t>
            </a:r>
            <a:endParaRPr lang="de-CH"/>
          </a:p>
        </p:txBody>
      </p:sp>
      <p:sp>
        <p:nvSpPr>
          <p:cNvPr id="3" name="Vertikaler Textplatzhalter 2">
            <a:extLst>
              <a:ext uri="{FF2B5EF4-FFF2-40B4-BE49-F238E27FC236}">
                <a16:creationId xmlns:a16="http://schemas.microsoft.com/office/drawing/2014/main" id="{C715B801-DFC3-6631-85AB-375288188EF5}"/>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F5F96F53-2820-EF08-431C-24C5130539FC}"/>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5" name="Fußzeilenplatzhalter 4">
            <a:extLst>
              <a:ext uri="{FF2B5EF4-FFF2-40B4-BE49-F238E27FC236}">
                <a16:creationId xmlns:a16="http://schemas.microsoft.com/office/drawing/2014/main" id="{EA85753C-1D83-8522-3157-CDCDD3BCDB0D}"/>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53162976-7F9D-55F8-D06B-5297C811883E}"/>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304858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36898386-1353-3C1B-B5D0-8ED36B851A80}"/>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de-CH"/>
          </a:p>
        </p:txBody>
      </p:sp>
      <p:sp>
        <p:nvSpPr>
          <p:cNvPr id="3" name="Vertikaler Textplatzhalter 2">
            <a:extLst>
              <a:ext uri="{FF2B5EF4-FFF2-40B4-BE49-F238E27FC236}">
                <a16:creationId xmlns:a16="http://schemas.microsoft.com/office/drawing/2014/main" id="{804CD5AB-AB34-B948-F29E-65C49E48F21A}"/>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89FDDE3B-5E2B-B31E-16E7-352FA83CA377}"/>
              </a:ext>
            </a:extLst>
          </p:cNvPr>
          <p:cNvSpPr>
            <a:spLocks noGrp="1"/>
          </p:cNvSpPr>
          <p:nvPr>
            <p:ph type="dt" sz="half" idx="10"/>
          </p:nvPr>
        </p:nvSpPr>
        <p:spPr/>
        <p:txBody>
          <a:bodyPr/>
          <a:lstStyle/>
          <a:p>
            <a:fld id="{5A970E99-4862-4E49-B65B-00FB243DAB2E}" type="datetimeFigureOut">
              <a:rPr lang="de-CH" smtClean="0"/>
              <a:t>18.06.2026</a:t>
            </a:fld>
            <a:endParaRPr lang="de-CH"/>
          </a:p>
        </p:txBody>
      </p:sp>
      <p:sp>
        <p:nvSpPr>
          <p:cNvPr id="5" name="Fußzeilenplatzhalter 4">
            <a:extLst>
              <a:ext uri="{FF2B5EF4-FFF2-40B4-BE49-F238E27FC236}">
                <a16:creationId xmlns:a16="http://schemas.microsoft.com/office/drawing/2014/main" id="{FDD861B8-6682-8554-E0AE-49B7F16CFBEA}"/>
              </a:ext>
            </a:extLst>
          </p:cNvPr>
          <p:cNvSpPr>
            <a:spLocks noGrp="1"/>
          </p:cNvSpPr>
          <p:nvPr>
            <p:ph type="ftr" sz="quarter" idx="11"/>
          </p:nvPr>
        </p:nvSpPr>
        <p:spPr/>
        <p:txBody>
          <a:bodyPr/>
          <a:lstStyle/>
          <a:p>
            <a:endParaRPr lang="de-CH"/>
          </a:p>
        </p:txBody>
      </p:sp>
      <p:sp>
        <p:nvSpPr>
          <p:cNvPr id="6" name="Foliennummernplatzhalter 5">
            <a:extLst>
              <a:ext uri="{FF2B5EF4-FFF2-40B4-BE49-F238E27FC236}">
                <a16:creationId xmlns:a16="http://schemas.microsoft.com/office/drawing/2014/main" id="{F2E4C71F-B921-FC43-ADD3-2D35C0AF15E0}"/>
              </a:ext>
            </a:extLst>
          </p:cNvPr>
          <p:cNvSpPr>
            <a:spLocks noGrp="1"/>
          </p:cNvSpPr>
          <p:nvPr>
            <p:ph type="sldNum" sz="quarter" idx="12"/>
          </p:nvPr>
        </p:nvSpPr>
        <p:spPr/>
        <p:txBody>
          <a:bodyPr/>
          <a:lstStyle/>
          <a:p>
            <a:fld id="{11AE11E8-F191-4004-AA7A-65B711E1AE6D}" type="slidenum">
              <a:rPr lang="de-CH" smtClean="0"/>
              <a:t>‹Nr.›</a:t>
            </a:fld>
            <a:endParaRPr lang="de-CH"/>
          </a:p>
        </p:txBody>
      </p:sp>
    </p:spTree>
    <p:extLst>
      <p:ext uri="{BB962C8B-B14F-4D97-AF65-F5344CB8AC3E}">
        <p14:creationId xmlns:p14="http://schemas.microsoft.com/office/powerpoint/2010/main" val="40994655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38698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FA47D763-3E1F-E4D8-A788-320F60BE78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de-CH"/>
          </a:p>
        </p:txBody>
      </p:sp>
      <p:sp>
        <p:nvSpPr>
          <p:cNvPr id="3" name="Textplatzhalter 2">
            <a:extLst>
              <a:ext uri="{FF2B5EF4-FFF2-40B4-BE49-F238E27FC236}">
                <a16:creationId xmlns:a16="http://schemas.microsoft.com/office/drawing/2014/main" id="{B5A15817-1552-AF47-4D42-E58BE158923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4" name="Datumsplatzhalter 3">
            <a:extLst>
              <a:ext uri="{FF2B5EF4-FFF2-40B4-BE49-F238E27FC236}">
                <a16:creationId xmlns:a16="http://schemas.microsoft.com/office/drawing/2014/main" id="{34B4EF75-36B4-47C6-7030-C7275B5387C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A970E99-4862-4E49-B65B-00FB243DAB2E}" type="datetimeFigureOut">
              <a:rPr lang="de-CH" smtClean="0"/>
              <a:t>18.06.2026</a:t>
            </a:fld>
            <a:endParaRPr lang="de-CH"/>
          </a:p>
        </p:txBody>
      </p:sp>
      <p:sp>
        <p:nvSpPr>
          <p:cNvPr id="5" name="Fußzeilenplatzhalter 4">
            <a:extLst>
              <a:ext uri="{FF2B5EF4-FFF2-40B4-BE49-F238E27FC236}">
                <a16:creationId xmlns:a16="http://schemas.microsoft.com/office/drawing/2014/main" id="{D06DADEA-329B-85F8-403C-AF962AC5588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CH"/>
          </a:p>
        </p:txBody>
      </p:sp>
      <p:sp>
        <p:nvSpPr>
          <p:cNvPr id="6" name="Foliennummernplatzhalter 5">
            <a:extLst>
              <a:ext uri="{FF2B5EF4-FFF2-40B4-BE49-F238E27FC236}">
                <a16:creationId xmlns:a16="http://schemas.microsoft.com/office/drawing/2014/main" id="{42235687-39A0-596B-A0EC-41697126E8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AE11E8-F191-4004-AA7A-65B711E1AE6D}" type="slidenum">
              <a:rPr lang="de-CH" smtClean="0"/>
              <a:t>‹Nr.›</a:t>
            </a:fld>
            <a:endParaRPr lang="de-CH"/>
          </a:p>
        </p:txBody>
      </p:sp>
    </p:spTree>
    <p:extLst>
      <p:ext uri="{BB962C8B-B14F-4D97-AF65-F5344CB8AC3E}">
        <p14:creationId xmlns:p14="http://schemas.microsoft.com/office/powerpoint/2010/main" val="25126810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75360" y="1889760"/>
            <a:ext cx="10241280" cy="426720"/>
          </a:xfrm>
          <a:prstGeom prst="rect">
            <a:avLst/>
          </a:prstGeom>
          <a:noFill/>
          <a:ln/>
        </p:spPr>
        <p:txBody>
          <a:bodyPr wrap="square" lIns="0" tIns="0" rIns="0" bIns="0" rtlCol="0" anchor="ctr"/>
          <a:lstStyle/>
          <a:p>
            <a:r>
              <a:rPr lang="en-US" sz="1733" b="1" kern="0" spc="533" dirty="0">
                <a:solidFill>
                  <a:srgbClr val="E8A33D"/>
                </a:solidFill>
                <a:latin typeface="Calibri" pitchFamily="34" charset="0"/>
                <a:ea typeface="Calibri" pitchFamily="34" charset="-122"/>
                <a:cs typeface="Calibri" pitchFamily="34" charset="-120"/>
              </a:rPr>
              <a:t>AI EXPLOITATION &amp; INNOVATION</a:t>
            </a:r>
            <a:endParaRPr lang="en-US" sz="1733" dirty="0"/>
          </a:p>
        </p:txBody>
      </p:sp>
      <p:sp>
        <p:nvSpPr>
          <p:cNvPr id="3" name="Text 1"/>
          <p:cNvSpPr/>
          <p:nvPr/>
        </p:nvSpPr>
        <p:spPr>
          <a:xfrm>
            <a:off x="975360" y="2377440"/>
            <a:ext cx="10241280" cy="1219200"/>
          </a:xfrm>
          <a:prstGeom prst="rect">
            <a:avLst/>
          </a:prstGeom>
          <a:noFill/>
          <a:ln/>
        </p:spPr>
        <p:txBody>
          <a:bodyPr wrap="square" lIns="0" tIns="0" rIns="0" bIns="0" rtlCol="0" anchor="ctr"/>
          <a:lstStyle/>
          <a:p>
            <a:r>
              <a:rPr lang="en-US" sz="6133" b="1" dirty="0">
                <a:solidFill>
                  <a:srgbClr val="002060"/>
                </a:solidFill>
                <a:latin typeface="Cambria" pitchFamily="34" charset="0"/>
                <a:ea typeface="Cambria" pitchFamily="34" charset="-122"/>
                <a:cs typeface="Cambria" pitchFamily="34" charset="-120"/>
              </a:rPr>
              <a:t>Predicting Customer Churn</a:t>
            </a:r>
            <a:endParaRPr lang="en-US" sz="6133" dirty="0">
              <a:solidFill>
                <a:srgbClr val="002060"/>
              </a:solidFill>
            </a:endParaRPr>
          </a:p>
        </p:txBody>
      </p:sp>
      <p:sp>
        <p:nvSpPr>
          <p:cNvPr id="4" name="Text 2"/>
          <p:cNvSpPr/>
          <p:nvPr/>
        </p:nvSpPr>
        <p:spPr>
          <a:xfrm>
            <a:off x="975360" y="3657600"/>
            <a:ext cx="10241280" cy="609600"/>
          </a:xfrm>
          <a:prstGeom prst="rect">
            <a:avLst/>
          </a:prstGeom>
          <a:noFill/>
          <a:ln/>
        </p:spPr>
        <p:txBody>
          <a:bodyPr wrap="square" lIns="0" tIns="0" rIns="0" bIns="0" rtlCol="0" anchor="ctr"/>
          <a:lstStyle/>
          <a:p>
            <a:r>
              <a:rPr lang="en-US" sz="2533" dirty="0">
                <a:solidFill>
                  <a:srgbClr val="0070C0"/>
                </a:solidFill>
                <a:latin typeface="Calibri" pitchFamily="34" charset="0"/>
                <a:ea typeface="Calibri" pitchFamily="34" charset="-122"/>
                <a:cs typeface="Calibri" pitchFamily="34" charset="-120"/>
              </a:rPr>
              <a:t>Finding the customers about to leave – before they do</a:t>
            </a:r>
            <a:endParaRPr lang="en-US" sz="2533" dirty="0">
              <a:solidFill>
                <a:srgbClr val="0070C0"/>
              </a:solidFill>
            </a:endParaRPr>
          </a:p>
        </p:txBody>
      </p:sp>
      <p:sp>
        <p:nvSpPr>
          <p:cNvPr id="5" name="Shape 3"/>
          <p:cNvSpPr/>
          <p:nvPr/>
        </p:nvSpPr>
        <p:spPr>
          <a:xfrm>
            <a:off x="999744" y="4511040"/>
            <a:ext cx="2072640" cy="0"/>
          </a:xfrm>
          <a:prstGeom prst="line">
            <a:avLst/>
          </a:prstGeom>
          <a:noFill/>
          <a:ln w="31750">
            <a:solidFill>
              <a:srgbClr val="E8A33D"/>
            </a:solidFill>
            <a:prstDash val="solid"/>
          </a:ln>
        </p:spPr>
        <p:txBody>
          <a:bodyPr/>
          <a:lstStyle/>
          <a:p>
            <a:endParaRPr lang="de-CH" sz="2400"/>
          </a:p>
        </p:txBody>
      </p:sp>
      <p:sp>
        <p:nvSpPr>
          <p:cNvPr id="6" name="Text 4"/>
          <p:cNvSpPr/>
          <p:nvPr/>
        </p:nvSpPr>
        <p:spPr>
          <a:xfrm>
            <a:off x="975360" y="4693920"/>
            <a:ext cx="10241280" cy="487680"/>
          </a:xfrm>
          <a:prstGeom prst="rect">
            <a:avLst/>
          </a:prstGeom>
          <a:noFill/>
          <a:ln/>
        </p:spPr>
        <p:txBody>
          <a:bodyPr wrap="square" lIns="0" tIns="0" rIns="0" bIns="0" rtlCol="0" anchor="ctr"/>
          <a:lstStyle/>
          <a:p>
            <a:r>
              <a:rPr lang="en-US" sz="1733" dirty="0">
                <a:solidFill>
                  <a:srgbClr val="9FB0D8"/>
                </a:solidFill>
                <a:latin typeface="Calibri" pitchFamily="34" charset="0"/>
                <a:ea typeface="Calibri" pitchFamily="34" charset="-122"/>
                <a:cs typeface="Calibri" pitchFamily="34" charset="-120"/>
              </a:rPr>
              <a:t>Daniel Lutziger · Management summary  ·  18.06.2026</a:t>
            </a:r>
            <a:endParaRPr lang="en-US" sz="1733"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0560" y="390144"/>
            <a:ext cx="10972800" cy="365760"/>
          </a:xfrm>
          <a:prstGeom prst="rect">
            <a:avLst/>
          </a:prstGeom>
          <a:noFill/>
          <a:ln/>
        </p:spPr>
        <p:txBody>
          <a:bodyPr wrap="square" lIns="0" tIns="0" rIns="0" bIns="0" rtlCol="0" anchor="ctr"/>
          <a:lstStyle/>
          <a:p>
            <a:r>
              <a:rPr lang="en-US" sz="1533" b="1" kern="0" spc="400" dirty="0">
                <a:solidFill>
                  <a:srgbClr val="E8A33D"/>
                </a:solidFill>
                <a:latin typeface="Calibri" pitchFamily="34" charset="0"/>
                <a:ea typeface="Calibri" pitchFamily="34" charset="-122"/>
                <a:cs typeface="Calibri" pitchFamily="34" charset="-120"/>
              </a:rPr>
              <a:t>THE OPPORTUNITY</a:t>
            </a:r>
            <a:endParaRPr lang="en-US" sz="1533" dirty="0"/>
          </a:p>
        </p:txBody>
      </p:sp>
      <p:sp>
        <p:nvSpPr>
          <p:cNvPr id="3" name="Text 1"/>
          <p:cNvSpPr/>
          <p:nvPr/>
        </p:nvSpPr>
        <p:spPr>
          <a:xfrm>
            <a:off x="670560" y="731520"/>
            <a:ext cx="10972800" cy="91440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We can spend retention budget where it counts</a:t>
            </a:r>
            <a:endParaRPr lang="en-US" sz="4000" dirty="0"/>
          </a:p>
        </p:txBody>
      </p:sp>
      <p:sp>
        <p:nvSpPr>
          <p:cNvPr id="4" name="Text 2"/>
          <p:cNvSpPr/>
          <p:nvPr/>
        </p:nvSpPr>
        <p:spPr>
          <a:xfrm>
            <a:off x="670560" y="1828800"/>
            <a:ext cx="6096000" cy="1584960"/>
          </a:xfrm>
          <a:prstGeom prst="rect">
            <a:avLst/>
          </a:prstGeom>
          <a:noFill/>
          <a:ln/>
        </p:spPr>
        <p:txBody>
          <a:bodyPr wrap="square" lIns="0" tIns="0" rIns="0" bIns="0" rtlCol="0" anchor="ctr"/>
          <a:lstStyle/>
          <a:p>
            <a:pPr>
              <a:lnSpc>
                <a:spcPct val="115000"/>
              </a:lnSpc>
            </a:pPr>
            <a:r>
              <a:rPr lang="en-US" sz="2067" dirty="0">
                <a:solidFill>
                  <a:srgbClr val="2B2F3A"/>
                </a:solidFill>
                <a:latin typeface="Calibri" pitchFamily="34" charset="0"/>
                <a:ea typeface="Calibri" pitchFamily="34" charset="-122"/>
                <a:cs typeface="Calibri" pitchFamily="34" charset="-120"/>
              </a:rPr>
              <a:t>Keeping a customer costs far less than winning a new one. We built a model that ranks every customer by how likely they are to leave next quarter, so retention offers go to the people who actually need them, not to everyone.</a:t>
            </a:r>
            <a:endParaRPr lang="en-US" sz="2067" dirty="0"/>
          </a:p>
        </p:txBody>
      </p:sp>
      <p:sp>
        <p:nvSpPr>
          <p:cNvPr id="5" name="Shape 3"/>
          <p:cNvSpPr/>
          <p:nvPr/>
        </p:nvSpPr>
        <p:spPr>
          <a:xfrm>
            <a:off x="670560" y="3657600"/>
            <a:ext cx="6096000" cy="2316480"/>
          </a:xfrm>
          <a:prstGeom prst="roundRect">
            <a:avLst>
              <a:gd name="adj" fmla="val 4211"/>
            </a:avLst>
          </a:prstGeom>
          <a:solidFill>
            <a:srgbClr val="1E2761"/>
          </a:solidFill>
          <a:ln/>
          <a:effectLst>
            <a:outerShdw blurRad="88900" dist="38100" dir="5400000" algn="bl" rotWithShape="0">
              <a:srgbClr val="1E2761">
                <a:alpha val="14000"/>
              </a:srgbClr>
            </a:outerShdw>
          </a:effectLst>
        </p:spPr>
        <p:txBody>
          <a:bodyPr/>
          <a:lstStyle/>
          <a:p>
            <a:endParaRPr lang="de-CH" sz="2400"/>
          </a:p>
        </p:txBody>
      </p:sp>
      <p:sp>
        <p:nvSpPr>
          <p:cNvPr id="6" name="Text 4"/>
          <p:cNvSpPr/>
          <p:nvPr/>
        </p:nvSpPr>
        <p:spPr>
          <a:xfrm>
            <a:off x="853440" y="3877056"/>
            <a:ext cx="2438400" cy="1341120"/>
          </a:xfrm>
          <a:prstGeom prst="rect">
            <a:avLst/>
          </a:prstGeom>
          <a:noFill/>
          <a:ln/>
        </p:spPr>
        <p:txBody>
          <a:bodyPr wrap="square" lIns="0" tIns="0" rIns="0" bIns="0" rtlCol="0" anchor="ctr"/>
          <a:lstStyle/>
          <a:p>
            <a:r>
              <a:rPr lang="en-US" sz="8000" b="1" dirty="0">
                <a:solidFill>
                  <a:srgbClr val="E8A33D"/>
                </a:solidFill>
                <a:latin typeface="Cambria" pitchFamily="34" charset="0"/>
                <a:ea typeface="Cambria" pitchFamily="34" charset="-122"/>
                <a:cs typeface="Cambria" pitchFamily="34" charset="-120"/>
              </a:rPr>
              <a:t>2.9×</a:t>
            </a:r>
            <a:endParaRPr lang="en-US" sz="8000" dirty="0"/>
          </a:p>
        </p:txBody>
      </p:sp>
      <p:sp>
        <p:nvSpPr>
          <p:cNvPr id="7" name="Text 5"/>
          <p:cNvSpPr/>
          <p:nvPr/>
        </p:nvSpPr>
        <p:spPr>
          <a:xfrm>
            <a:off x="3352800" y="3962400"/>
            <a:ext cx="3230880" cy="1706880"/>
          </a:xfrm>
          <a:prstGeom prst="rect">
            <a:avLst/>
          </a:prstGeom>
          <a:noFill/>
          <a:ln/>
        </p:spPr>
        <p:txBody>
          <a:bodyPr wrap="square" lIns="0" tIns="0" rIns="0" bIns="0" rtlCol="0" anchor="ctr"/>
          <a:lstStyle/>
          <a:p>
            <a:pPr>
              <a:lnSpc>
                <a:spcPct val="105000"/>
              </a:lnSpc>
            </a:pPr>
            <a:r>
              <a:rPr lang="en-US" sz="2000" b="1" dirty="0">
                <a:solidFill>
                  <a:srgbClr val="FFFFFF"/>
                </a:solidFill>
                <a:latin typeface="Calibri" pitchFamily="34" charset="0"/>
                <a:ea typeface="Calibri" pitchFamily="34" charset="-122"/>
                <a:cs typeface="Calibri" pitchFamily="34" charset="-120"/>
              </a:rPr>
              <a:t>more churners found</a:t>
            </a:r>
            <a:endParaRPr lang="en-US" sz="2000" dirty="0"/>
          </a:p>
          <a:p>
            <a:pPr>
              <a:lnSpc>
                <a:spcPct val="105000"/>
              </a:lnSpc>
            </a:pPr>
            <a:r>
              <a:rPr lang="en-US" sz="2000" dirty="0">
                <a:solidFill>
                  <a:srgbClr val="FFFFFF"/>
                </a:solidFill>
                <a:latin typeface="Calibri" pitchFamily="34" charset="0"/>
                <a:ea typeface="Calibri" pitchFamily="34" charset="-122"/>
                <a:cs typeface="Calibri" pitchFamily="34" charset="-120"/>
              </a:rPr>
              <a:t>than contacting customers at random</a:t>
            </a:r>
            <a:endParaRPr lang="en-US" sz="2000" dirty="0"/>
          </a:p>
        </p:txBody>
      </p:sp>
      <p:sp>
        <p:nvSpPr>
          <p:cNvPr id="8" name="Text 6"/>
          <p:cNvSpPr/>
          <p:nvPr/>
        </p:nvSpPr>
        <p:spPr>
          <a:xfrm>
            <a:off x="7254240" y="1767840"/>
            <a:ext cx="4389120" cy="609600"/>
          </a:xfrm>
          <a:prstGeom prst="rect">
            <a:avLst/>
          </a:prstGeom>
          <a:noFill/>
          <a:ln/>
        </p:spPr>
        <p:txBody>
          <a:bodyPr wrap="square" lIns="0" tIns="0" rIns="0" bIns="0" rtlCol="0" anchor="ctr"/>
          <a:lstStyle/>
          <a:p>
            <a:pPr algn="ctr"/>
            <a:r>
              <a:rPr lang="en-US" sz="1733" b="1" dirty="0">
                <a:solidFill>
                  <a:srgbClr val="1E2761"/>
                </a:solidFill>
                <a:latin typeface="Calibri" pitchFamily="34" charset="0"/>
                <a:ea typeface="Calibri" pitchFamily="34" charset="-122"/>
                <a:cs typeface="Calibri" pitchFamily="34" charset="-120"/>
              </a:rPr>
              <a:t>Real churners found per 100 customers contacted</a:t>
            </a:r>
            <a:endParaRPr lang="en-US" sz="1733" dirty="0"/>
          </a:p>
        </p:txBody>
      </p:sp>
      <p:graphicFrame>
        <p:nvGraphicFramePr>
          <p:cNvPr id="9" name="Chart 0"/>
          <p:cNvGraphicFramePr/>
          <p:nvPr/>
        </p:nvGraphicFramePr>
        <p:xfrm>
          <a:off x="7254240" y="2377440"/>
          <a:ext cx="4328160" cy="359664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p:nvPr/>
        </p:nvSpPr>
        <p:spPr>
          <a:xfrm>
            <a:off x="7254240" y="6035040"/>
            <a:ext cx="4389120" cy="365760"/>
          </a:xfrm>
          <a:prstGeom prst="rect">
            <a:avLst/>
          </a:prstGeom>
          <a:noFill/>
          <a:ln/>
        </p:spPr>
        <p:txBody>
          <a:bodyPr wrap="square" lIns="0" tIns="0" rIns="0" bIns="0" rtlCol="0" anchor="ctr"/>
          <a:lstStyle/>
          <a:p>
            <a:pPr algn="ctr"/>
            <a:r>
              <a:rPr lang="en-US" sz="1400" i="1" dirty="0">
                <a:solidFill>
                  <a:srgbClr val="6B7280"/>
                </a:solidFill>
                <a:latin typeface="Calibri" pitchFamily="34" charset="0"/>
                <a:ea typeface="Calibri" pitchFamily="34" charset="-122"/>
                <a:cs typeface="Calibri" pitchFamily="34" charset="-120"/>
              </a:rPr>
              <a:t>Model discrimination: ROC-AUC 0.84  ·  base churn rate 26.5%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0560" y="390144"/>
            <a:ext cx="10972800" cy="365760"/>
          </a:xfrm>
          <a:prstGeom prst="rect">
            <a:avLst/>
          </a:prstGeom>
          <a:noFill/>
          <a:ln/>
        </p:spPr>
        <p:txBody>
          <a:bodyPr wrap="square" lIns="0" tIns="0" rIns="0" bIns="0" rtlCol="0" anchor="ctr"/>
          <a:lstStyle/>
          <a:p>
            <a:r>
              <a:rPr lang="en-US" sz="1533" b="1" kern="0" spc="400" dirty="0">
                <a:solidFill>
                  <a:srgbClr val="E8A33D"/>
                </a:solidFill>
                <a:latin typeface="Calibri" pitchFamily="34" charset="0"/>
                <a:ea typeface="Calibri" pitchFamily="34" charset="-122"/>
                <a:cs typeface="Calibri" pitchFamily="34" charset="-120"/>
              </a:rPr>
              <a:t>WHAT DRIVES CHURN</a:t>
            </a:r>
            <a:endParaRPr lang="en-US" sz="1533" dirty="0"/>
          </a:p>
        </p:txBody>
      </p:sp>
      <p:sp>
        <p:nvSpPr>
          <p:cNvPr id="3" name="Text 1"/>
          <p:cNvSpPr/>
          <p:nvPr/>
        </p:nvSpPr>
        <p:spPr>
          <a:xfrm>
            <a:off x="670560" y="731520"/>
            <a:ext cx="10972800" cy="91440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Who is at risk and why</a:t>
            </a:r>
            <a:endParaRPr lang="en-US" sz="4000" dirty="0"/>
          </a:p>
        </p:txBody>
      </p:sp>
      <p:sp>
        <p:nvSpPr>
          <p:cNvPr id="4" name="Text 2"/>
          <p:cNvSpPr/>
          <p:nvPr/>
        </p:nvSpPr>
        <p:spPr>
          <a:xfrm>
            <a:off x="670560" y="1767840"/>
            <a:ext cx="6583680" cy="487680"/>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Churn rate by the strongest risk factors</a:t>
            </a:r>
            <a:endParaRPr lang="en-US" sz="1733" dirty="0"/>
          </a:p>
        </p:txBody>
      </p:sp>
      <p:graphicFrame>
        <p:nvGraphicFramePr>
          <p:cNvPr id="5" name="Chart 0"/>
          <p:cNvGraphicFramePr/>
          <p:nvPr/>
        </p:nvGraphicFramePr>
        <p:xfrm>
          <a:off x="609600" y="2255520"/>
          <a:ext cx="6705600" cy="414528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680960" y="2072640"/>
            <a:ext cx="3962400" cy="4084320"/>
          </a:xfrm>
          <a:prstGeom prst="roundRect">
            <a:avLst>
              <a:gd name="adj" fmla="val 2462"/>
            </a:avLst>
          </a:prstGeom>
          <a:solidFill>
            <a:srgbClr val="F3F5FA"/>
          </a:solidFill>
          <a:ln/>
          <a:effectLst>
            <a:outerShdw blurRad="88900" dist="38100" dir="5400000" algn="bl" rotWithShape="0">
              <a:srgbClr val="1E2761">
                <a:alpha val="14000"/>
              </a:srgbClr>
            </a:outerShdw>
          </a:effectLst>
        </p:spPr>
        <p:txBody>
          <a:bodyPr/>
          <a:lstStyle/>
          <a:p>
            <a:endParaRPr lang="de-CH" sz="2400"/>
          </a:p>
        </p:txBody>
      </p:sp>
      <p:sp>
        <p:nvSpPr>
          <p:cNvPr id="7" name="Text 4"/>
          <p:cNvSpPr/>
          <p:nvPr/>
        </p:nvSpPr>
        <p:spPr>
          <a:xfrm>
            <a:off x="7985760" y="2377440"/>
            <a:ext cx="3413760" cy="426720"/>
          </a:xfrm>
          <a:prstGeom prst="rect">
            <a:avLst/>
          </a:prstGeom>
          <a:noFill/>
          <a:ln/>
        </p:spPr>
        <p:txBody>
          <a:bodyPr wrap="square" lIns="0" tIns="0" rIns="0" bIns="0" rtlCol="0" anchor="ctr"/>
          <a:lstStyle/>
          <a:p>
            <a:r>
              <a:rPr lang="en-US" sz="1600" b="1" kern="0" spc="267" dirty="0">
                <a:solidFill>
                  <a:srgbClr val="E8A33D"/>
                </a:solidFill>
                <a:latin typeface="Calibri" pitchFamily="34" charset="0"/>
                <a:ea typeface="Calibri" pitchFamily="34" charset="-122"/>
                <a:cs typeface="Calibri" pitchFamily="34" charset="-120"/>
              </a:rPr>
              <a:t>THE AT-RISK CUSTOMER</a:t>
            </a:r>
            <a:endParaRPr lang="en-US" sz="1600" dirty="0"/>
          </a:p>
        </p:txBody>
      </p:sp>
      <p:sp>
        <p:nvSpPr>
          <p:cNvPr id="8" name="Text 5"/>
          <p:cNvSpPr/>
          <p:nvPr/>
        </p:nvSpPr>
        <p:spPr>
          <a:xfrm>
            <a:off x="7985760" y="2926080"/>
            <a:ext cx="3413760" cy="3048000"/>
          </a:xfrm>
          <a:prstGeom prst="rect">
            <a:avLst/>
          </a:prstGeom>
          <a:noFill/>
          <a:ln/>
        </p:spPr>
        <p:txBody>
          <a:bodyPr wrap="square" lIns="0" tIns="0" rIns="0" bIns="0" rtlCol="0" anchor="ctr"/>
          <a:lstStyle/>
          <a:p>
            <a:pPr marL="457189" indent="-457189">
              <a:spcAft>
                <a:spcPts val="1333"/>
              </a:spcAft>
              <a:buSzPct val="100000"/>
              <a:buChar char="•"/>
            </a:pPr>
            <a:r>
              <a:rPr lang="en-US" sz="1933" dirty="0">
                <a:solidFill>
                  <a:srgbClr val="2B2F3A"/>
                </a:solidFill>
                <a:latin typeface="Calibri" pitchFamily="34" charset="0"/>
                <a:ea typeface="Calibri" pitchFamily="34" charset="-122"/>
                <a:cs typeface="Calibri" pitchFamily="34" charset="-120"/>
              </a:rPr>
              <a:t>On a month-to-month contract</a:t>
            </a:r>
            <a:endParaRPr lang="en-US" sz="1933" dirty="0"/>
          </a:p>
          <a:p>
            <a:pPr marL="457189" indent="-457189">
              <a:spcAft>
                <a:spcPts val="1333"/>
              </a:spcAft>
              <a:buSzPct val="100000"/>
              <a:buChar char="•"/>
            </a:pPr>
            <a:r>
              <a:rPr lang="en-US" sz="1933" dirty="0">
                <a:solidFill>
                  <a:srgbClr val="2B2F3A"/>
                </a:solidFill>
                <a:latin typeface="Calibri" pitchFamily="34" charset="0"/>
                <a:ea typeface="Calibri" pitchFamily="34" charset="-122"/>
                <a:cs typeface="Calibri" pitchFamily="34" charset="-120"/>
              </a:rPr>
              <a:t>New, is in their first few months</a:t>
            </a:r>
            <a:endParaRPr lang="en-US" sz="1933" dirty="0"/>
          </a:p>
          <a:p>
            <a:pPr marL="457189" indent="-457189">
              <a:spcAft>
                <a:spcPts val="1333"/>
              </a:spcAft>
              <a:buSzPct val="100000"/>
              <a:buChar char="•"/>
            </a:pPr>
            <a:r>
              <a:rPr lang="en-US" sz="1933" dirty="0">
                <a:solidFill>
                  <a:srgbClr val="2B2F3A"/>
                </a:solidFill>
                <a:latin typeface="Calibri" pitchFamily="34" charset="0"/>
                <a:ea typeface="Calibri" pitchFamily="34" charset="-122"/>
                <a:cs typeface="Calibri" pitchFamily="34" charset="-120"/>
              </a:rPr>
              <a:t>On a fiber-optic plan</a:t>
            </a:r>
            <a:endParaRPr lang="en-US" sz="1933" dirty="0"/>
          </a:p>
          <a:p>
            <a:pPr marL="457189" indent="-457189">
              <a:spcAft>
                <a:spcPts val="1333"/>
              </a:spcAft>
              <a:buSzPct val="100000"/>
              <a:buChar char="•"/>
            </a:pPr>
            <a:r>
              <a:rPr lang="en-US" sz="1933" dirty="0">
                <a:solidFill>
                  <a:srgbClr val="2B2F3A"/>
                </a:solidFill>
                <a:latin typeface="Calibri" pitchFamily="34" charset="0"/>
                <a:ea typeface="Calibri" pitchFamily="34" charset="-122"/>
                <a:cs typeface="Calibri" pitchFamily="34" charset="-120"/>
              </a:rPr>
              <a:t>Pays by electronic check</a:t>
            </a:r>
            <a:endParaRPr lang="en-US" sz="1933" dirty="0"/>
          </a:p>
          <a:p>
            <a:pPr marL="457189" indent="-457189">
              <a:spcAft>
                <a:spcPts val="1333"/>
              </a:spcAft>
              <a:buSzPct val="100000"/>
              <a:buChar char="•"/>
            </a:pPr>
            <a:r>
              <a:rPr lang="en-US" sz="1933" dirty="0">
                <a:solidFill>
                  <a:srgbClr val="2B2F3A"/>
                </a:solidFill>
                <a:latin typeface="Calibri" pitchFamily="34" charset="0"/>
                <a:ea typeface="Calibri" pitchFamily="34" charset="-122"/>
                <a:cs typeface="Calibri" pitchFamily="34" charset="-120"/>
              </a:rPr>
              <a:t>Has no tech-support / security add-ons</a:t>
            </a:r>
            <a:endParaRPr lang="en-US" sz="193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0560" y="390144"/>
            <a:ext cx="10972800" cy="365760"/>
          </a:xfrm>
          <a:prstGeom prst="rect">
            <a:avLst/>
          </a:prstGeom>
          <a:noFill/>
          <a:ln/>
        </p:spPr>
        <p:txBody>
          <a:bodyPr wrap="square" lIns="0" tIns="0" rIns="0" bIns="0" rtlCol="0" anchor="ctr"/>
          <a:lstStyle/>
          <a:p>
            <a:r>
              <a:rPr lang="en-US" sz="1533" b="1" kern="0" spc="400" dirty="0">
                <a:solidFill>
                  <a:srgbClr val="E8A33D"/>
                </a:solidFill>
                <a:latin typeface="Calibri" pitchFamily="34" charset="0"/>
                <a:ea typeface="Calibri" pitchFamily="34" charset="-122"/>
                <a:cs typeface="Calibri" pitchFamily="34" charset="-120"/>
              </a:rPr>
              <a:t>HOW WE USE IT</a:t>
            </a:r>
            <a:endParaRPr lang="en-US" sz="1533" dirty="0"/>
          </a:p>
        </p:txBody>
      </p:sp>
      <p:sp>
        <p:nvSpPr>
          <p:cNvPr id="3" name="Text 1"/>
          <p:cNvSpPr/>
          <p:nvPr/>
        </p:nvSpPr>
        <p:spPr>
          <a:xfrm>
            <a:off x="670560" y="731520"/>
            <a:ext cx="10972800" cy="91440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Turning risk scores into return</a:t>
            </a:r>
            <a:endParaRPr lang="en-US" sz="4000" dirty="0"/>
          </a:p>
        </p:txBody>
      </p:sp>
      <p:sp>
        <p:nvSpPr>
          <p:cNvPr id="4" name="Text 2"/>
          <p:cNvSpPr/>
          <p:nvPr/>
        </p:nvSpPr>
        <p:spPr>
          <a:xfrm>
            <a:off x="670560" y="1767840"/>
            <a:ext cx="6827520" cy="487680"/>
          </a:xfrm>
          <a:prstGeom prst="rect">
            <a:avLst/>
          </a:prstGeom>
          <a:noFill/>
          <a:ln/>
        </p:spPr>
        <p:txBody>
          <a:bodyPr wrap="square" lIns="0" tIns="0" rIns="0" bIns="0" rtlCol="0" anchor="ctr"/>
          <a:lstStyle/>
          <a:p>
            <a:r>
              <a:rPr lang="en-US" sz="1733" b="1" dirty="0">
                <a:solidFill>
                  <a:srgbClr val="1E2761"/>
                </a:solidFill>
                <a:latin typeface="Calibri" pitchFamily="34" charset="0"/>
                <a:ea typeface="Calibri" pitchFamily="34" charset="-122"/>
                <a:cs typeface="Calibri" pitchFamily="34" charset="-120"/>
              </a:rPr>
              <a:t>Expected return vs. how many customers we contact</a:t>
            </a:r>
            <a:endParaRPr lang="en-US" sz="1733" dirty="0"/>
          </a:p>
        </p:txBody>
      </p:sp>
      <p:graphicFrame>
        <p:nvGraphicFramePr>
          <p:cNvPr id="5" name="Chart 0"/>
          <p:cNvGraphicFramePr/>
          <p:nvPr/>
        </p:nvGraphicFramePr>
        <p:xfrm>
          <a:off x="609600" y="2255520"/>
          <a:ext cx="6888480" cy="39624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p:nvPr/>
        </p:nvSpPr>
        <p:spPr>
          <a:xfrm>
            <a:off x="2438400" y="2377440"/>
            <a:ext cx="2682240" cy="365760"/>
          </a:xfrm>
          <a:prstGeom prst="rect">
            <a:avLst/>
          </a:prstGeom>
          <a:noFill/>
          <a:ln/>
        </p:spPr>
        <p:txBody>
          <a:bodyPr wrap="square" lIns="0" tIns="0" rIns="0" bIns="0" rtlCol="0" anchor="ctr"/>
          <a:lstStyle/>
          <a:p>
            <a:pPr algn="ctr"/>
            <a:r>
              <a:rPr lang="en-US" sz="1467" b="1" dirty="0">
                <a:solidFill>
                  <a:srgbClr val="E8A33D"/>
                </a:solidFill>
                <a:latin typeface="Calibri" pitchFamily="34" charset="0"/>
                <a:ea typeface="Calibri" pitchFamily="34" charset="-122"/>
                <a:cs typeface="Calibri" pitchFamily="34" charset="-120"/>
              </a:rPr>
              <a:t>optimum ≈ top 30%</a:t>
            </a:r>
            <a:endParaRPr lang="en-US" sz="1467" dirty="0"/>
          </a:p>
        </p:txBody>
      </p:sp>
      <p:sp>
        <p:nvSpPr>
          <p:cNvPr id="7" name="Text 4"/>
          <p:cNvSpPr/>
          <p:nvPr/>
        </p:nvSpPr>
        <p:spPr>
          <a:xfrm>
            <a:off x="609600" y="6156960"/>
            <a:ext cx="6888480" cy="365760"/>
          </a:xfrm>
          <a:prstGeom prst="rect">
            <a:avLst/>
          </a:prstGeom>
          <a:noFill/>
          <a:ln/>
        </p:spPr>
        <p:txBody>
          <a:bodyPr wrap="square" lIns="0" tIns="0" rIns="0" bIns="0" rtlCol="0" anchor="ctr"/>
          <a:lstStyle/>
          <a:p>
            <a:pPr algn="ctr"/>
            <a:r>
              <a:rPr lang="en-US" sz="1267" i="1" dirty="0">
                <a:solidFill>
                  <a:srgbClr val="6B7280"/>
                </a:solidFill>
                <a:latin typeface="Calibri" pitchFamily="34" charset="0"/>
                <a:ea typeface="Calibri" pitchFamily="34" charset="-122"/>
                <a:cs typeface="Calibri" pitchFamily="34" charset="-120"/>
              </a:rPr>
              <a:t>% of customer base contacted (highest risk first)  ·  illustrative: plug in real offer cost &amp; customer value</a:t>
            </a:r>
            <a:endParaRPr lang="en-US" sz="1267" dirty="0"/>
          </a:p>
        </p:txBody>
      </p:sp>
      <p:sp>
        <p:nvSpPr>
          <p:cNvPr id="8" name="Text 5"/>
          <p:cNvSpPr/>
          <p:nvPr/>
        </p:nvSpPr>
        <p:spPr>
          <a:xfrm>
            <a:off x="7802880" y="2011680"/>
            <a:ext cx="3840480" cy="2560320"/>
          </a:xfrm>
          <a:prstGeom prst="rect">
            <a:avLst/>
          </a:prstGeom>
          <a:noFill/>
          <a:ln/>
        </p:spPr>
        <p:txBody>
          <a:bodyPr wrap="square" lIns="0" tIns="0" rIns="0" bIns="0" rtlCol="0" anchor="ctr"/>
          <a:lstStyle/>
          <a:p>
            <a:pPr marL="457189" indent="-457189">
              <a:lnSpc>
                <a:spcPct val="105000"/>
              </a:lnSpc>
              <a:spcAft>
                <a:spcPts val="1200"/>
              </a:spcAft>
              <a:buSzPct val="100000"/>
              <a:buChar char="•"/>
            </a:pPr>
            <a:r>
              <a:rPr lang="en-US" sz="1933" dirty="0">
                <a:solidFill>
                  <a:srgbClr val="2B2F3A"/>
                </a:solidFill>
                <a:latin typeface="Calibri" pitchFamily="34" charset="0"/>
                <a:ea typeface="Calibri" pitchFamily="34" charset="-122"/>
                <a:cs typeface="Calibri" pitchFamily="34" charset="-120"/>
              </a:rPr>
              <a:t>Rank every active customer by risk each month</a:t>
            </a:r>
            <a:endParaRPr lang="en-US" sz="1933" dirty="0"/>
          </a:p>
          <a:p>
            <a:pPr marL="457189" indent="-457189">
              <a:lnSpc>
                <a:spcPct val="105000"/>
              </a:lnSpc>
              <a:spcAft>
                <a:spcPts val="1200"/>
              </a:spcAft>
              <a:buSzPct val="100000"/>
              <a:buChar char="•"/>
            </a:pPr>
            <a:r>
              <a:rPr lang="en-US" sz="1933" dirty="0">
                <a:solidFill>
                  <a:srgbClr val="2B2F3A"/>
                </a:solidFill>
                <a:latin typeface="Calibri" pitchFamily="34" charset="0"/>
                <a:ea typeface="Calibri" pitchFamily="34" charset="-122"/>
                <a:cs typeface="Calibri" pitchFamily="34" charset="-120"/>
              </a:rPr>
              <a:t>The campaign team contacts the top-K and K is a budget decision, not a fixed cut-off</a:t>
            </a:r>
            <a:endParaRPr lang="en-US" sz="1933" dirty="0"/>
          </a:p>
          <a:p>
            <a:pPr marL="457189" indent="-457189">
              <a:lnSpc>
                <a:spcPct val="105000"/>
              </a:lnSpc>
              <a:spcAft>
                <a:spcPts val="1200"/>
              </a:spcAft>
              <a:buSzPct val="100000"/>
              <a:buChar char="•"/>
            </a:pPr>
            <a:r>
              <a:rPr lang="en-US" sz="1933" dirty="0">
                <a:solidFill>
                  <a:srgbClr val="2B2F3A"/>
                </a:solidFill>
                <a:latin typeface="Calibri" pitchFamily="34" charset="0"/>
                <a:ea typeface="Calibri" pitchFamily="34" charset="-122"/>
                <a:cs typeface="Calibri" pitchFamily="34" charset="-120"/>
              </a:rPr>
              <a:t>There is an optimal campaign size that maximizes return</a:t>
            </a:r>
            <a:endParaRPr lang="en-US" sz="1933" dirty="0"/>
          </a:p>
        </p:txBody>
      </p:sp>
      <p:sp>
        <p:nvSpPr>
          <p:cNvPr id="9" name="Shape 6"/>
          <p:cNvSpPr/>
          <p:nvPr/>
        </p:nvSpPr>
        <p:spPr>
          <a:xfrm>
            <a:off x="7802880" y="4693920"/>
            <a:ext cx="3840480" cy="1524000"/>
          </a:xfrm>
          <a:prstGeom prst="roundRect">
            <a:avLst>
              <a:gd name="adj" fmla="val 6400"/>
            </a:avLst>
          </a:prstGeom>
          <a:solidFill>
            <a:srgbClr val="1E2761"/>
          </a:solidFill>
          <a:ln/>
          <a:effectLst>
            <a:outerShdw blurRad="88900" dist="38100" dir="5400000" algn="bl" rotWithShape="0">
              <a:srgbClr val="1E2761">
                <a:alpha val="14000"/>
              </a:srgbClr>
            </a:outerShdw>
          </a:effectLst>
        </p:spPr>
        <p:txBody>
          <a:bodyPr/>
          <a:lstStyle/>
          <a:p>
            <a:endParaRPr lang="de-CH" sz="2400"/>
          </a:p>
        </p:txBody>
      </p:sp>
      <p:sp>
        <p:nvSpPr>
          <p:cNvPr id="10" name="Text 7"/>
          <p:cNvSpPr/>
          <p:nvPr/>
        </p:nvSpPr>
        <p:spPr>
          <a:xfrm>
            <a:off x="8046720" y="4815840"/>
            <a:ext cx="3389376" cy="1280160"/>
          </a:xfrm>
          <a:prstGeom prst="rect">
            <a:avLst/>
          </a:prstGeom>
          <a:noFill/>
          <a:ln/>
        </p:spPr>
        <p:txBody>
          <a:bodyPr wrap="square" lIns="0" tIns="0" rIns="0" bIns="0" rtlCol="0" anchor="ctr"/>
          <a:lstStyle/>
          <a:p>
            <a:pPr>
              <a:lnSpc>
                <a:spcPct val="105000"/>
              </a:lnSpc>
            </a:pPr>
            <a:r>
              <a:rPr lang="en-US" sz="1667" dirty="0">
                <a:solidFill>
                  <a:srgbClr val="FFFFFF"/>
                </a:solidFill>
                <a:latin typeface="Calibri" pitchFamily="34" charset="0"/>
                <a:ea typeface="Calibri" pitchFamily="34" charset="-122"/>
                <a:cs typeface="Calibri" pitchFamily="34" charset="-120"/>
              </a:rPr>
              <a:t>Tell us an offer's cost and a saved customer's value and the model returns how many to contact and the expected gain.</a:t>
            </a:r>
            <a:endParaRPr lang="en-US" sz="1667"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0560" y="390144"/>
            <a:ext cx="10972800" cy="365760"/>
          </a:xfrm>
          <a:prstGeom prst="rect">
            <a:avLst/>
          </a:prstGeom>
          <a:noFill/>
          <a:ln/>
        </p:spPr>
        <p:txBody>
          <a:bodyPr wrap="square" lIns="0" tIns="0" rIns="0" bIns="0" rtlCol="0" anchor="ctr"/>
          <a:lstStyle/>
          <a:p>
            <a:r>
              <a:rPr lang="en-US" sz="1533" b="1" kern="0" spc="400" dirty="0">
                <a:solidFill>
                  <a:srgbClr val="E8A33D"/>
                </a:solidFill>
                <a:latin typeface="Calibri" pitchFamily="34" charset="0"/>
                <a:ea typeface="Calibri" pitchFamily="34" charset="-122"/>
                <a:cs typeface="Calibri" pitchFamily="34" charset="-120"/>
              </a:rPr>
              <a:t>WHAT TO DO</a:t>
            </a:r>
            <a:endParaRPr lang="en-US" sz="1533" dirty="0"/>
          </a:p>
        </p:txBody>
      </p:sp>
      <p:sp>
        <p:nvSpPr>
          <p:cNvPr id="3" name="Text 1"/>
          <p:cNvSpPr/>
          <p:nvPr/>
        </p:nvSpPr>
        <p:spPr>
          <a:xfrm>
            <a:off x="670560" y="731520"/>
            <a:ext cx="10972800" cy="914400"/>
          </a:xfrm>
          <a:prstGeom prst="rect">
            <a:avLst/>
          </a:prstGeom>
          <a:noFill/>
          <a:ln/>
        </p:spPr>
        <p:txBody>
          <a:bodyPr wrap="square" lIns="0" tIns="0" rIns="0" bIns="0" rtlCol="0" anchor="ctr"/>
          <a:lstStyle/>
          <a:p>
            <a:r>
              <a:rPr lang="en-US" sz="4000" b="1" dirty="0">
                <a:solidFill>
                  <a:srgbClr val="1E2761"/>
                </a:solidFill>
                <a:latin typeface="Cambria" pitchFamily="34" charset="0"/>
                <a:ea typeface="Cambria" pitchFamily="34" charset="-122"/>
                <a:cs typeface="Cambria" pitchFamily="34" charset="-120"/>
              </a:rPr>
              <a:t>Recommendations</a:t>
            </a:r>
            <a:endParaRPr lang="en-US" sz="4000" dirty="0"/>
          </a:p>
        </p:txBody>
      </p:sp>
      <p:sp>
        <p:nvSpPr>
          <p:cNvPr id="4" name="Shape 2"/>
          <p:cNvSpPr/>
          <p:nvPr/>
        </p:nvSpPr>
        <p:spPr>
          <a:xfrm>
            <a:off x="670560" y="1767840"/>
            <a:ext cx="10850880" cy="902208"/>
          </a:xfrm>
          <a:prstGeom prst="roundRect">
            <a:avLst>
              <a:gd name="adj" fmla="val 8108"/>
            </a:avLst>
          </a:prstGeom>
          <a:solidFill>
            <a:srgbClr val="F3F5FA"/>
          </a:solidFill>
          <a:ln/>
        </p:spPr>
        <p:txBody>
          <a:bodyPr/>
          <a:lstStyle/>
          <a:p>
            <a:endParaRPr lang="de-CH" sz="2400"/>
          </a:p>
        </p:txBody>
      </p:sp>
      <p:sp>
        <p:nvSpPr>
          <p:cNvPr id="5" name="Shape 3"/>
          <p:cNvSpPr/>
          <p:nvPr/>
        </p:nvSpPr>
        <p:spPr>
          <a:xfrm>
            <a:off x="877824" y="1914144"/>
            <a:ext cx="609600" cy="609600"/>
          </a:xfrm>
          <a:prstGeom prst="ellipse">
            <a:avLst/>
          </a:prstGeom>
          <a:solidFill>
            <a:srgbClr val="CADCFC"/>
          </a:solidFill>
          <a:ln/>
        </p:spPr>
        <p:txBody>
          <a:bodyPr/>
          <a:lstStyle/>
          <a:p>
            <a:endParaRPr lang="de-CH" sz="2400"/>
          </a:p>
        </p:txBody>
      </p:sp>
      <p:pic>
        <p:nvPicPr>
          <p:cNvPr id="6" name="Image 0" descr="preencoded.png"/>
          <p:cNvPicPr>
            <a:picLocks noChangeAspect="1"/>
          </p:cNvPicPr>
          <p:nvPr/>
        </p:nvPicPr>
        <p:blipFill>
          <a:blip r:embed="rId3"/>
          <a:stretch>
            <a:fillRect/>
          </a:stretch>
        </p:blipFill>
        <p:spPr>
          <a:xfrm>
            <a:off x="1024128" y="2072640"/>
            <a:ext cx="316992" cy="316992"/>
          </a:xfrm>
          <a:prstGeom prst="rect">
            <a:avLst/>
          </a:prstGeom>
        </p:spPr>
      </p:pic>
      <p:sp>
        <p:nvSpPr>
          <p:cNvPr id="7" name="Text 4"/>
          <p:cNvSpPr/>
          <p:nvPr/>
        </p:nvSpPr>
        <p:spPr>
          <a:xfrm>
            <a:off x="1767840" y="1865376"/>
            <a:ext cx="9570720" cy="390144"/>
          </a:xfrm>
          <a:prstGeom prst="rect">
            <a:avLst/>
          </a:prstGeom>
          <a:noFill/>
          <a:ln/>
        </p:spPr>
        <p:txBody>
          <a:bodyPr wrap="square" lIns="0" tIns="0" rIns="0" bIns="0" rtlCol="0" anchor="ctr"/>
          <a:lstStyle/>
          <a:p>
            <a:r>
              <a:rPr lang="en-US" sz="1933" b="1" dirty="0">
                <a:solidFill>
                  <a:srgbClr val="1E2761"/>
                </a:solidFill>
                <a:latin typeface="Calibri" pitchFamily="34" charset="0"/>
                <a:ea typeface="Calibri" pitchFamily="34" charset="-122"/>
                <a:cs typeface="Calibri" pitchFamily="34" charset="-120"/>
              </a:rPr>
              <a:t>Move month-to-month customers to annual contracts</a:t>
            </a:r>
            <a:endParaRPr lang="en-US" sz="1933" dirty="0"/>
          </a:p>
        </p:txBody>
      </p:sp>
      <p:sp>
        <p:nvSpPr>
          <p:cNvPr id="8" name="Text 5"/>
          <p:cNvSpPr/>
          <p:nvPr/>
        </p:nvSpPr>
        <p:spPr>
          <a:xfrm>
            <a:off x="1767840" y="2231136"/>
            <a:ext cx="9570720" cy="365760"/>
          </a:xfrm>
          <a:prstGeom prst="rect">
            <a:avLst/>
          </a:prstGeom>
          <a:noFill/>
          <a:ln/>
        </p:spPr>
        <p:txBody>
          <a:bodyPr wrap="square" lIns="0" tIns="0" rIns="0" bIns="0" rtlCol="0" anchor="ctr"/>
          <a:lstStyle/>
          <a:p>
            <a:r>
              <a:rPr lang="en-US" sz="1533" dirty="0">
                <a:solidFill>
                  <a:srgbClr val="2B2F3A"/>
                </a:solidFill>
                <a:latin typeface="Calibri" pitchFamily="34" charset="0"/>
                <a:ea typeface="Calibri" pitchFamily="34" charset="-122"/>
                <a:cs typeface="Calibri" pitchFamily="34" charset="-120"/>
              </a:rPr>
              <a:t>The single biggest lever: locked-in customers barely churn. Incentivize 1-2 year commitments.</a:t>
            </a:r>
            <a:endParaRPr lang="en-US" sz="1533" dirty="0"/>
          </a:p>
        </p:txBody>
      </p:sp>
      <p:sp>
        <p:nvSpPr>
          <p:cNvPr id="9" name="Shape 6"/>
          <p:cNvSpPr/>
          <p:nvPr/>
        </p:nvSpPr>
        <p:spPr>
          <a:xfrm>
            <a:off x="670560" y="2731008"/>
            <a:ext cx="10850880" cy="902208"/>
          </a:xfrm>
          <a:prstGeom prst="roundRect">
            <a:avLst>
              <a:gd name="adj" fmla="val 8108"/>
            </a:avLst>
          </a:prstGeom>
          <a:solidFill>
            <a:srgbClr val="F3F5FA"/>
          </a:solidFill>
          <a:ln/>
        </p:spPr>
        <p:txBody>
          <a:bodyPr/>
          <a:lstStyle/>
          <a:p>
            <a:endParaRPr lang="de-CH" sz="2400"/>
          </a:p>
        </p:txBody>
      </p:sp>
      <p:sp>
        <p:nvSpPr>
          <p:cNvPr id="10" name="Shape 7"/>
          <p:cNvSpPr/>
          <p:nvPr/>
        </p:nvSpPr>
        <p:spPr>
          <a:xfrm>
            <a:off x="877824" y="2877312"/>
            <a:ext cx="609600" cy="609600"/>
          </a:xfrm>
          <a:prstGeom prst="ellipse">
            <a:avLst/>
          </a:prstGeom>
          <a:solidFill>
            <a:srgbClr val="CADCFC"/>
          </a:solidFill>
          <a:ln/>
        </p:spPr>
        <p:txBody>
          <a:bodyPr/>
          <a:lstStyle/>
          <a:p>
            <a:endParaRPr lang="de-CH" sz="2400"/>
          </a:p>
        </p:txBody>
      </p:sp>
      <p:pic>
        <p:nvPicPr>
          <p:cNvPr id="11" name="Image 1" descr="preencoded.png"/>
          <p:cNvPicPr>
            <a:picLocks noChangeAspect="1"/>
          </p:cNvPicPr>
          <p:nvPr/>
        </p:nvPicPr>
        <p:blipFill>
          <a:blip r:embed="rId4"/>
          <a:stretch>
            <a:fillRect/>
          </a:stretch>
        </p:blipFill>
        <p:spPr>
          <a:xfrm>
            <a:off x="1024128" y="3035808"/>
            <a:ext cx="316992" cy="316992"/>
          </a:xfrm>
          <a:prstGeom prst="rect">
            <a:avLst/>
          </a:prstGeom>
        </p:spPr>
      </p:pic>
      <p:sp>
        <p:nvSpPr>
          <p:cNvPr id="12" name="Text 8"/>
          <p:cNvSpPr/>
          <p:nvPr/>
        </p:nvSpPr>
        <p:spPr>
          <a:xfrm>
            <a:off x="1767840" y="2828544"/>
            <a:ext cx="9570720" cy="390144"/>
          </a:xfrm>
          <a:prstGeom prst="rect">
            <a:avLst/>
          </a:prstGeom>
          <a:noFill/>
          <a:ln/>
        </p:spPr>
        <p:txBody>
          <a:bodyPr wrap="square" lIns="0" tIns="0" rIns="0" bIns="0" rtlCol="0" anchor="ctr"/>
          <a:lstStyle/>
          <a:p>
            <a:r>
              <a:rPr lang="en-US" sz="1933" b="1" dirty="0">
                <a:solidFill>
                  <a:srgbClr val="1E2761"/>
                </a:solidFill>
                <a:latin typeface="Calibri" pitchFamily="34" charset="0"/>
                <a:ea typeface="Calibri" pitchFamily="34" charset="-122"/>
                <a:cs typeface="Calibri" pitchFamily="34" charset="-120"/>
              </a:rPr>
              <a:t>Fix the fiber experience</a:t>
            </a:r>
            <a:endParaRPr lang="en-US" sz="1933" dirty="0"/>
          </a:p>
        </p:txBody>
      </p:sp>
      <p:sp>
        <p:nvSpPr>
          <p:cNvPr id="13" name="Text 9"/>
          <p:cNvSpPr/>
          <p:nvPr/>
        </p:nvSpPr>
        <p:spPr>
          <a:xfrm>
            <a:off x="1767840" y="3194304"/>
            <a:ext cx="9570720" cy="365760"/>
          </a:xfrm>
          <a:prstGeom prst="rect">
            <a:avLst/>
          </a:prstGeom>
          <a:noFill/>
          <a:ln/>
        </p:spPr>
        <p:txBody>
          <a:bodyPr wrap="square" lIns="0" tIns="0" rIns="0" bIns="0" rtlCol="0" anchor="ctr"/>
          <a:lstStyle/>
          <a:p>
            <a:r>
              <a:rPr lang="en-US" sz="1533" dirty="0">
                <a:solidFill>
                  <a:srgbClr val="2B2F3A"/>
                </a:solidFill>
                <a:latin typeface="Calibri" pitchFamily="34" charset="0"/>
                <a:ea typeface="Calibri" pitchFamily="34" charset="-122"/>
                <a:cs typeface="Calibri" pitchFamily="34" charset="-120"/>
              </a:rPr>
              <a:t>Fiber churns at 42% vs 19% on DSL. Investigate pricing and service quality on this product.</a:t>
            </a:r>
            <a:endParaRPr lang="en-US" sz="1533" dirty="0"/>
          </a:p>
        </p:txBody>
      </p:sp>
      <p:sp>
        <p:nvSpPr>
          <p:cNvPr id="14" name="Shape 10"/>
          <p:cNvSpPr/>
          <p:nvPr/>
        </p:nvSpPr>
        <p:spPr>
          <a:xfrm>
            <a:off x="670560" y="3694176"/>
            <a:ext cx="10850880" cy="902208"/>
          </a:xfrm>
          <a:prstGeom prst="roundRect">
            <a:avLst>
              <a:gd name="adj" fmla="val 8108"/>
            </a:avLst>
          </a:prstGeom>
          <a:solidFill>
            <a:srgbClr val="F3F5FA"/>
          </a:solidFill>
          <a:ln/>
        </p:spPr>
        <p:txBody>
          <a:bodyPr/>
          <a:lstStyle/>
          <a:p>
            <a:endParaRPr lang="de-CH" sz="2400"/>
          </a:p>
        </p:txBody>
      </p:sp>
      <p:sp>
        <p:nvSpPr>
          <p:cNvPr id="15" name="Shape 11"/>
          <p:cNvSpPr/>
          <p:nvPr/>
        </p:nvSpPr>
        <p:spPr>
          <a:xfrm>
            <a:off x="877824" y="3840480"/>
            <a:ext cx="609600" cy="609600"/>
          </a:xfrm>
          <a:prstGeom prst="ellipse">
            <a:avLst/>
          </a:prstGeom>
          <a:solidFill>
            <a:srgbClr val="CADCFC"/>
          </a:solidFill>
          <a:ln/>
        </p:spPr>
        <p:txBody>
          <a:bodyPr/>
          <a:lstStyle/>
          <a:p>
            <a:endParaRPr lang="de-CH" sz="2400"/>
          </a:p>
        </p:txBody>
      </p:sp>
      <p:pic>
        <p:nvPicPr>
          <p:cNvPr id="16" name="Image 2" descr="preencoded.png"/>
          <p:cNvPicPr>
            <a:picLocks noChangeAspect="1"/>
          </p:cNvPicPr>
          <p:nvPr/>
        </p:nvPicPr>
        <p:blipFill>
          <a:blip r:embed="rId5"/>
          <a:stretch>
            <a:fillRect/>
          </a:stretch>
        </p:blipFill>
        <p:spPr>
          <a:xfrm>
            <a:off x="1024128" y="3998976"/>
            <a:ext cx="316992" cy="316992"/>
          </a:xfrm>
          <a:prstGeom prst="rect">
            <a:avLst/>
          </a:prstGeom>
        </p:spPr>
      </p:pic>
      <p:sp>
        <p:nvSpPr>
          <p:cNvPr id="17" name="Text 12"/>
          <p:cNvSpPr/>
          <p:nvPr/>
        </p:nvSpPr>
        <p:spPr>
          <a:xfrm>
            <a:off x="1767840" y="3791712"/>
            <a:ext cx="9570720" cy="390144"/>
          </a:xfrm>
          <a:prstGeom prst="rect">
            <a:avLst/>
          </a:prstGeom>
          <a:noFill/>
          <a:ln/>
        </p:spPr>
        <p:txBody>
          <a:bodyPr wrap="square" lIns="0" tIns="0" rIns="0" bIns="0" rtlCol="0" anchor="ctr"/>
          <a:lstStyle/>
          <a:p>
            <a:r>
              <a:rPr lang="en-US" sz="1933" b="1" dirty="0">
                <a:solidFill>
                  <a:srgbClr val="1E2761"/>
                </a:solidFill>
                <a:latin typeface="Calibri" pitchFamily="34" charset="0"/>
                <a:ea typeface="Calibri" pitchFamily="34" charset="-122"/>
                <a:cs typeface="Calibri" pitchFamily="34" charset="-120"/>
              </a:rPr>
              <a:t>Shift electronic-check payers to auto-pay</a:t>
            </a:r>
            <a:endParaRPr lang="en-US" sz="1933" dirty="0"/>
          </a:p>
        </p:txBody>
      </p:sp>
      <p:sp>
        <p:nvSpPr>
          <p:cNvPr id="18" name="Text 13"/>
          <p:cNvSpPr/>
          <p:nvPr/>
        </p:nvSpPr>
        <p:spPr>
          <a:xfrm>
            <a:off x="1767840" y="4157472"/>
            <a:ext cx="9570720" cy="365760"/>
          </a:xfrm>
          <a:prstGeom prst="rect">
            <a:avLst/>
          </a:prstGeom>
          <a:noFill/>
          <a:ln/>
        </p:spPr>
        <p:txBody>
          <a:bodyPr wrap="square" lIns="0" tIns="0" rIns="0" bIns="0" rtlCol="0" anchor="ctr"/>
          <a:lstStyle/>
          <a:p>
            <a:r>
              <a:rPr lang="en-US" sz="1533" dirty="0">
                <a:solidFill>
                  <a:srgbClr val="2B2F3A"/>
                </a:solidFill>
                <a:latin typeface="Calibri" pitchFamily="34" charset="0"/>
                <a:ea typeface="Calibri" pitchFamily="34" charset="-122"/>
                <a:cs typeface="Calibri" pitchFamily="34" charset="-120"/>
              </a:rPr>
              <a:t>The highest-churn payment method (45%). Reduce billing friction with card / bank auto-pay.</a:t>
            </a:r>
            <a:endParaRPr lang="en-US" sz="1533" dirty="0"/>
          </a:p>
        </p:txBody>
      </p:sp>
      <p:sp>
        <p:nvSpPr>
          <p:cNvPr id="19" name="Shape 14"/>
          <p:cNvSpPr/>
          <p:nvPr/>
        </p:nvSpPr>
        <p:spPr>
          <a:xfrm>
            <a:off x="670560" y="4657344"/>
            <a:ext cx="10850880" cy="902208"/>
          </a:xfrm>
          <a:prstGeom prst="roundRect">
            <a:avLst>
              <a:gd name="adj" fmla="val 8108"/>
            </a:avLst>
          </a:prstGeom>
          <a:solidFill>
            <a:srgbClr val="F3F5FA"/>
          </a:solidFill>
          <a:ln/>
        </p:spPr>
        <p:txBody>
          <a:bodyPr/>
          <a:lstStyle/>
          <a:p>
            <a:endParaRPr lang="de-CH" sz="2400"/>
          </a:p>
        </p:txBody>
      </p:sp>
      <p:sp>
        <p:nvSpPr>
          <p:cNvPr id="20" name="Shape 15"/>
          <p:cNvSpPr/>
          <p:nvPr/>
        </p:nvSpPr>
        <p:spPr>
          <a:xfrm>
            <a:off x="877824" y="4803648"/>
            <a:ext cx="609600" cy="609600"/>
          </a:xfrm>
          <a:prstGeom prst="ellipse">
            <a:avLst/>
          </a:prstGeom>
          <a:solidFill>
            <a:srgbClr val="CADCFC"/>
          </a:solidFill>
          <a:ln/>
        </p:spPr>
        <p:txBody>
          <a:bodyPr/>
          <a:lstStyle/>
          <a:p>
            <a:endParaRPr lang="de-CH" sz="2400"/>
          </a:p>
        </p:txBody>
      </p:sp>
      <p:pic>
        <p:nvPicPr>
          <p:cNvPr id="21" name="Image 3" descr="preencoded.png"/>
          <p:cNvPicPr>
            <a:picLocks noChangeAspect="1"/>
          </p:cNvPicPr>
          <p:nvPr/>
        </p:nvPicPr>
        <p:blipFill>
          <a:blip r:embed="rId6"/>
          <a:stretch>
            <a:fillRect/>
          </a:stretch>
        </p:blipFill>
        <p:spPr>
          <a:xfrm>
            <a:off x="1024128" y="4962144"/>
            <a:ext cx="316992" cy="316992"/>
          </a:xfrm>
          <a:prstGeom prst="rect">
            <a:avLst/>
          </a:prstGeom>
        </p:spPr>
      </p:pic>
      <p:sp>
        <p:nvSpPr>
          <p:cNvPr id="22" name="Text 16"/>
          <p:cNvSpPr/>
          <p:nvPr/>
        </p:nvSpPr>
        <p:spPr>
          <a:xfrm>
            <a:off x="1767840" y="4754880"/>
            <a:ext cx="9570720" cy="390144"/>
          </a:xfrm>
          <a:prstGeom prst="rect">
            <a:avLst/>
          </a:prstGeom>
          <a:noFill/>
          <a:ln/>
        </p:spPr>
        <p:txBody>
          <a:bodyPr wrap="square" lIns="0" tIns="0" rIns="0" bIns="0" rtlCol="0" anchor="ctr"/>
          <a:lstStyle/>
          <a:p>
            <a:r>
              <a:rPr lang="en-US" sz="1933" b="1" dirty="0">
                <a:solidFill>
                  <a:srgbClr val="1E2761"/>
                </a:solidFill>
                <a:latin typeface="Calibri" pitchFamily="34" charset="0"/>
                <a:ea typeface="Calibri" pitchFamily="34" charset="-122"/>
                <a:cs typeface="Calibri" pitchFamily="34" charset="-120"/>
              </a:rPr>
              <a:t>Win the first 90 days</a:t>
            </a:r>
            <a:endParaRPr lang="en-US" sz="1933" dirty="0"/>
          </a:p>
        </p:txBody>
      </p:sp>
      <p:sp>
        <p:nvSpPr>
          <p:cNvPr id="23" name="Text 17"/>
          <p:cNvSpPr/>
          <p:nvPr/>
        </p:nvSpPr>
        <p:spPr>
          <a:xfrm>
            <a:off x="1767840" y="5120640"/>
            <a:ext cx="9570720" cy="365760"/>
          </a:xfrm>
          <a:prstGeom prst="rect">
            <a:avLst/>
          </a:prstGeom>
          <a:noFill/>
          <a:ln/>
        </p:spPr>
        <p:txBody>
          <a:bodyPr wrap="square" lIns="0" tIns="0" rIns="0" bIns="0" rtlCol="0" anchor="ctr"/>
          <a:lstStyle/>
          <a:p>
            <a:r>
              <a:rPr lang="en-US" sz="1533" dirty="0">
                <a:solidFill>
                  <a:srgbClr val="2B2F3A"/>
                </a:solidFill>
                <a:latin typeface="Calibri" pitchFamily="34" charset="0"/>
                <a:ea typeface="Calibri" pitchFamily="34" charset="-122"/>
                <a:cs typeface="Calibri" pitchFamily="34" charset="-120"/>
              </a:rPr>
              <a:t>Churn peaks in the first months. Strengthen onboarding and early engagement for new customers.</a:t>
            </a:r>
            <a:endParaRPr lang="en-US" sz="1533" dirty="0"/>
          </a:p>
        </p:txBody>
      </p:sp>
      <p:sp>
        <p:nvSpPr>
          <p:cNvPr id="24" name="Shape 18"/>
          <p:cNvSpPr/>
          <p:nvPr/>
        </p:nvSpPr>
        <p:spPr>
          <a:xfrm>
            <a:off x="670560" y="5620512"/>
            <a:ext cx="10850880" cy="902208"/>
          </a:xfrm>
          <a:prstGeom prst="roundRect">
            <a:avLst>
              <a:gd name="adj" fmla="val 8108"/>
            </a:avLst>
          </a:prstGeom>
          <a:solidFill>
            <a:srgbClr val="F3F5FA"/>
          </a:solidFill>
          <a:ln/>
        </p:spPr>
        <p:txBody>
          <a:bodyPr/>
          <a:lstStyle/>
          <a:p>
            <a:endParaRPr lang="de-CH" sz="2400"/>
          </a:p>
        </p:txBody>
      </p:sp>
      <p:sp>
        <p:nvSpPr>
          <p:cNvPr id="25" name="Shape 19"/>
          <p:cNvSpPr/>
          <p:nvPr/>
        </p:nvSpPr>
        <p:spPr>
          <a:xfrm>
            <a:off x="877824" y="5766816"/>
            <a:ext cx="609600" cy="609600"/>
          </a:xfrm>
          <a:prstGeom prst="ellipse">
            <a:avLst/>
          </a:prstGeom>
          <a:solidFill>
            <a:srgbClr val="CADCFC"/>
          </a:solidFill>
          <a:ln/>
        </p:spPr>
        <p:txBody>
          <a:bodyPr/>
          <a:lstStyle/>
          <a:p>
            <a:endParaRPr lang="de-CH" sz="2400"/>
          </a:p>
        </p:txBody>
      </p:sp>
      <p:pic>
        <p:nvPicPr>
          <p:cNvPr id="26" name="Image 4" descr="preencoded.png"/>
          <p:cNvPicPr>
            <a:picLocks noChangeAspect="1"/>
          </p:cNvPicPr>
          <p:nvPr/>
        </p:nvPicPr>
        <p:blipFill>
          <a:blip r:embed="rId7"/>
          <a:stretch>
            <a:fillRect/>
          </a:stretch>
        </p:blipFill>
        <p:spPr>
          <a:xfrm>
            <a:off x="1024128" y="5925312"/>
            <a:ext cx="316992" cy="316992"/>
          </a:xfrm>
          <a:prstGeom prst="rect">
            <a:avLst/>
          </a:prstGeom>
        </p:spPr>
      </p:pic>
      <p:sp>
        <p:nvSpPr>
          <p:cNvPr id="27" name="Text 20"/>
          <p:cNvSpPr/>
          <p:nvPr/>
        </p:nvSpPr>
        <p:spPr>
          <a:xfrm>
            <a:off x="1767840" y="5718048"/>
            <a:ext cx="9570720" cy="390144"/>
          </a:xfrm>
          <a:prstGeom prst="rect">
            <a:avLst/>
          </a:prstGeom>
          <a:noFill/>
          <a:ln/>
        </p:spPr>
        <p:txBody>
          <a:bodyPr wrap="square" lIns="0" tIns="0" rIns="0" bIns="0" rtlCol="0" anchor="ctr"/>
          <a:lstStyle/>
          <a:p>
            <a:r>
              <a:rPr lang="en-US" sz="1933" b="1" dirty="0">
                <a:solidFill>
                  <a:srgbClr val="1E2761"/>
                </a:solidFill>
                <a:latin typeface="Calibri" pitchFamily="34" charset="0"/>
                <a:ea typeface="Calibri" pitchFamily="34" charset="-122"/>
                <a:cs typeface="Calibri" pitchFamily="34" charset="-120"/>
              </a:rPr>
              <a:t>Measure with a control group</a:t>
            </a:r>
            <a:endParaRPr lang="en-US" sz="1933" dirty="0"/>
          </a:p>
        </p:txBody>
      </p:sp>
      <p:sp>
        <p:nvSpPr>
          <p:cNvPr id="28" name="Text 21"/>
          <p:cNvSpPr/>
          <p:nvPr/>
        </p:nvSpPr>
        <p:spPr>
          <a:xfrm>
            <a:off x="1767840" y="6083808"/>
            <a:ext cx="9570720" cy="365760"/>
          </a:xfrm>
          <a:prstGeom prst="rect">
            <a:avLst/>
          </a:prstGeom>
          <a:noFill/>
          <a:ln/>
        </p:spPr>
        <p:txBody>
          <a:bodyPr wrap="square" lIns="0" tIns="0" rIns="0" bIns="0" rtlCol="0" anchor="ctr"/>
          <a:lstStyle/>
          <a:p>
            <a:r>
              <a:rPr lang="en-US" sz="1533" dirty="0">
                <a:solidFill>
                  <a:srgbClr val="2B2F3A"/>
                </a:solidFill>
                <a:latin typeface="Calibri" pitchFamily="34" charset="0"/>
                <a:ea typeface="Calibri" pitchFamily="34" charset="-122"/>
                <a:cs typeface="Calibri" pitchFamily="34" charset="-120"/>
              </a:rPr>
              <a:t>Hold out an untargeted group to prove the campaign's ROI and learn the true save-rate.</a:t>
            </a:r>
            <a:endParaRPr lang="en-US" sz="153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975360" y="1767840"/>
            <a:ext cx="10241280" cy="426720"/>
          </a:xfrm>
          <a:prstGeom prst="rect">
            <a:avLst/>
          </a:prstGeom>
          <a:noFill/>
          <a:ln/>
        </p:spPr>
        <p:txBody>
          <a:bodyPr wrap="square" lIns="0" tIns="0" rIns="0" bIns="0" rtlCol="0" anchor="ctr"/>
          <a:lstStyle/>
          <a:p>
            <a:r>
              <a:rPr lang="en-US" sz="1733" b="1" kern="0" spc="533" dirty="0">
                <a:solidFill>
                  <a:srgbClr val="E8A33D"/>
                </a:solidFill>
                <a:latin typeface="Calibri" pitchFamily="34" charset="0"/>
                <a:ea typeface="Calibri" pitchFamily="34" charset="-122"/>
                <a:cs typeface="Calibri" pitchFamily="34" charset="-120"/>
              </a:rPr>
              <a:t>FROM INSIGHT TO IMPACT</a:t>
            </a:r>
            <a:endParaRPr lang="en-US" sz="1733" dirty="0"/>
          </a:p>
        </p:txBody>
      </p:sp>
      <p:sp>
        <p:nvSpPr>
          <p:cNvPr id="3" name="Text 1"/>
          <p:cNvSpPr/>
          <p:nvPr/>
        </p:nvSpPr>
        <p:spPr>
          <a:xfrm>
            <a:off x="975360" y="2316480"/>
            <a:ext cx="10241280" cy="1219200"/>
          </a:xfrm>
          <a:prstGeom prst="rect">
            <a:avLst/>
          </a:prstGeom>
          <a:noFill/>
          <a:ln/>
        </p:spPr>
        <p:txBody>
          <a:bodyPr wrap="square" lIns="0" tIns="0" rIns="0" bIns="0" rtlCol="0" anchor="ctr"/>
          <a:lstStyle/>
          <a:p>
            <a:pPr>
              <a:lnSpc>
                <a:spcPct val="105000"/>
              </a:lnSpc>
            </a:pPr>
            <a:r>
              <a:rPr lang="en-US" sz="4267" b="1" dirty="0">
                <a:solidFill>
                  <a:srgbClr val="002060"/>
                </a:solidFill>
                <a:latin typeface="Cambria" pitchFamily="34" charset="0"/>
                <a:ea typeface="Cambria" pitchFamily="34" charset="-122"/>
                <a:cs typeface="Cambria" pitchFamily="34" charset="-120"/>
              </a:rPr>
              <a:t>We can already find 3 of every 4 leavers on our top list.</a:t>
            </a:r>
            <a:endParaRPr lang="en-US" sz="4267" dirty="0">
              <a:solidFill>
                <a:srgbClr val="002060"/>
              </a:solidFill>
            </a:endParaRPr>
          </a:p>
        </p:txBody>
      </p:sp>
      <p:sp>
        <p:nvSpPr>
          <p:cNvPr id="4" name="Text 2"/>
          <p:cNvSpPr/>
          <p:nvPr/>
        </p:nvSpPr>
        <p:spPr>
          <a:xfrm>
            <a:off x="999744" y="3962400"/>
            <a:ext cx="9997440" cy="1950720"/>
          </a:xfrm>
          <a:prstGeom prst="rect">
            <a:avLst/>
          </a:prstGeom>
          <a:noFill/>
          <a:ln/>
        </p:spPr>
        <p:txBody>
          <a:bodyPr wrap="square" lIns="0" tIns="0" rIns="0" bIns="0" rtlCol="0" anchor="ctr"/>
          <a:lstStyle/>
          <a:p>
            <a:pPr marL="457189" indent="-457189">
              <a:spcAft>
                <a:spcPts val="1200"/>
              </a:spcAft>
              <a:buSzPct val="100000"/>
              <a:buChar char="•"/>
            </a:pPr>
            <a:r>
              <a:rPr lang="en-US" sz="2133" dirty="0">
                <a:solidFill>
                  <a:srgbClr val="0070C0"/>
                </a:solidFill>
                <a:latin typeface="Calibri" pitchFamily="34" charset="0"/>
                <a:ea typeface="Calibri" pitchFamily="34" charset="-122"/>
                <a:cs typeface="Calibri" pitchFamily="34" charset="-120"/>
              </a:rPr>
              <a:t>Pilot on the next-quarter retention campaign, with a control group</a:t>
            </a:r>
            <a:endParaRPr lang="en-US" sz="2133" dirty="0">
              <a:solidFill>
                <a:srgbClr val="0070C0"/>
              </a:solidFill>
            </a:endParaRPr>
          </a:p>
          <a:p>
            <a:pPr marL="457189" indent="-457189">
              <a:spcAft>
                <a:spcPts val="1200"/>
              </a:spcAft>
              <a:buSzPct val="100000"/>
              <a:buChar char="•"/>
            </a:pPr>
            <a:r>
              <a:rPr lang="en-US" sz="2133" dirty="0">
                <a:solidFill>
                  <a:srgbClr val="0070C0"/>
                </a:solidFill>
                <a:latin typeface="Calibri" pitchFamily="34" charset="0"/>
                <a:ea typeface="Calibri" pitchFamily="34" charset="-122"/>
                <a:cs typeface="Calibri" pitchFamily="34" charset="-120"/>
              </a:rPr>
              <a:t>Measure the lift in euros, not just accuracy</a:t>
            </a:r>
            <a:endParaRPr lang="en-US" sz="2133" dirty="0">
              <a:solidFill>
                <a:srgbClr val="0070C0"/>
              </a:solidFill>
            </a:endParaRPr>
          </a:p>
          <a:p>
            <a:pPr marL="457189" indent="-457189">
              <a:spcAft>
                <a:spcPts val="1200"/>
              </a:spcAft>
              <a:buSzPct val="100000"/>
              <a:buChar char="•"/>
            </a:pPr>
            <a:r>
              <a:rPr lang="en-US" sz="2133" dirty="0">
                <a:solidFill>
                  <a:srgbClr val="0070C0"/>
                </a:solidFill>
                <a:latin typeface="Calibri" pitchFamily="34" charset="0"/>
                <a:ea typeface="Calibri" pitchFamily="34" charset="-122"/>
                <a:cs typeface="Calibri" pitchFamily="34" charset="-120"/>
              </a:rPr>
              <a:t>Refresh the model each quarter as new outcomes come in</a:t>
            </a:r>
            <a:endParaRPr lang="en-US" sz="2133" dirty="0">
              <a:solidFill>
                <a:srgbClr val="0070C0"/>
              </a:solidFill>
            </a:endParaRP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Slice</Template>
  <TotalTime>0</TotalTime>
  <Words>723</Words>
  <Application>Microsoft Office PowerPoint</Application>
  <PresentationFormat>Breitbild</PresentationFormat>
  <Paragraphs>59</Paragraphs>
  <Slides>6</Slides>
  <Notes>6</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vt:i4>
      </vt:variant>
    </vt:vector>
  </HeadingPairs>
  <TitlesOfParts>
    <vt:vector size="12" baseType="lpstr">
      <vt:lpstr>Aptos</vt:lpstr>
      <vt:lpstr>Aptos Display</vt:lpstr>
      <vt:lpstr>Arial</vt:lpstr>
      <vt:lpstr>Calibri</vt:lpstr>
      <vt:lpstr>Cambria</vt:lpstr>
      <vt:lpstr>Office</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Lutziger</dc:creator>
  <cp:lastModifiedBy>Daniel Lutziger</cp:lastModifiedBy>
  <cp:revision>1</cp:revision>
  <dcterms:created xsi:type="dcterms:W3CDTF">2026-06-17T22:17:10Z</dcterms:created>
  <dcterms:modified xsi:type="dcterms:W3CDTF">2026-06-17T22:41:45Z</dcterms:modified>
</cp:coreProperties>
</file>