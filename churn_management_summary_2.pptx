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Leavers</c:v>
                </c:pt>
              </c:strCache>
            </c:strRef>
          </c:tx>
          <c:spPr>
            <a:solidFill>
              <a:srgbClr val="E8A33D"/>
            </a:solidFill>
            <a:effectLst/>
          </c:spPr>
          <c:invertIfNegative val="0"/>
          <c:dLbls>
            <c:numFmt formatCode="#,##0" sourceLinked="0"/>
            <c:txPr>
              <a:bodyPr/>
              <a:lstStyle/>
              <a:p>
                <a:pPr>
                  <a:defRPr b="1" i="0" strike="noStrike" sz="1500" u="none">
                    <a:solidFill>
                      <a:srgbClr val="1E2761"/>
                    </a:solidFill>
                    <a:latin typeface="Calibri"/>
                  </a:defRPr>
                </a:pPr>
              </a:p>
            </c:txPr>
            <c:showLegendKey val="0"/>
            <c:showVal val="1"/>
            <c:showCatName val="0"/>
            <c:showSerName val="0"/>
            <c:showPercent val="0"/>
            <c:showBubbleSize val="0"/>
            <c:showLeaderLines val="0"/>
          </c:dLbls>
          <c:dPt>
            <c:idx val="0"/>
            <c:invertIfNegative val="0"/>
            <c:bubble3D val="0"/>
            <c:spPr>
              <a:solidFill>
                <a:srgbClr val="E8A33D"/>
              </a:solidFill>
              <a:effectLst/>
            </c:spPr>
          </c:dPt>
          <c:dPt>
            <c:idx val="1"/>
            <c:invertIfNegative val="0"/>
            <c:bubble3D val="0"/>
            <c:spPr>
              <a:solidFill>
                <a:srgbClr val="B8C0D4"/>
              </a:solidFill>
              <a:effectLst/>
            </c:spPr>
          </c:dPt>
          <c:cat>
            <c:multiLvlStrRef>
              <c:f>Sheet1!$A$2:$A$3</c:f>
              <c:multiLvlStrCache>
                <c:ptCount val="2"/>
                <c:lvl>
                  <c:pt idx="0">
                    <c:v>Model's top list</c:v>
                  </c:pt>
                  <c:pt idx="1">
                    <c:v>Random pick</c:v>
                  </c:pt>
                </c:lvl>
              </c:multiLvlStrCache>
            </c:multiLvlStrRef>
          </c:cat>
          <c:val>
            <c:numRef>
              <c:f>Sheet1!$B$2:$B$3</c:f>
              <c:numCache>
                <c:formatCode>General</c:formatCode>
                <c:ptCount val="2"/>
                <c:pt idx="0">
                  <c:v>77</c:v>
                </c:pt>
                <c:pt idx="1">
                  <c:v>27</c:v>
                </c:pt>
              </c:numCache>
            </c:numRef>
          </c:val>
        </c:ser>
        <c:dLbls>
          <c:numFmt formatCode="#,##0" sourceLinked="0"/>
          <c:txPr>
            <a:bodyPr/>
            <a:lstStyle/>
            <a:p>
              <a:pPr>
                <a:defRPr b="1" i="0" strike="noStrike" sz="1500" u="none">
                  <a:solidFill>
                    <a:srgbClr val="1E2761"/>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F3A"/>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Leave rate %</c:v>
                </c:pt>
              </c:strCache>
            </c:strRef>
          </c:tx>
          <c:spPr>
            <a:solidFill>
              <a:srgbClr val="E8A33D"/>
            </a:solidFill>
            <a:effectLst/>
          </c:spPr>
          <c:invertIfNegative val="0"/>
          <c:dLbls>
            <c:numFmt formatCode="#,##0" sourceLinked="0"/>
            <c:txPr>
              <a:bodyPr/>
              <a:lstStyle/>
              <a:p>
                <a:pPr>
                  <a:defRPr b="1" i="0" strike="noStrike" sz="1200" u="none">
                    <a:solidFill>
                      <a:srgbClr val="1E2761"/>
                    </a:solidFill>
                    <a:latin typeface="Calibri"/>
                  </a:defRPr>
                </a:pPr>
              </a:p>
            </c:txPr>
            <c:showLegendKey val="0"/>
            <c:showVal val="1"/>
            <c:showCatName val="0"/>
            <c:showSerName val="0"/>
            <c:showPercent val="0"/>
            <c:showBubbleSize val="0"/>
            <c:showLeaderLines val="0"/>
          </c:dLbls>
          <c:dPt>
            <c:idx val="0"/>
            <c:invertIfNegative val="0"/>
            <c:bubble3D val="0"/>
            <c:spPr>
              <a:solidFill>
                <a:srgbClr val="E8A33D"/>
              </a:solidFill>
              <a:effectLst/>
            </c:spPr>
          </c:dPt>
          <c:dPt>
            <c:idx val="1"/>
            <c:invertIfNegative val="0"/>
            <c:bubble3D val="0"/>
            <c:spPr>
              <a:solidFill>
                <a:srgbClr val="E8A33D"/>
              </a:solidFill>
              <a:effectLst/>
            </c:spPr>
          </c:dPt>
          <c:dPt>
            <c:idx val="2"/>
            <c:invertIfNegative val="0"/>
            <c:bubble3D val="0"/>
            <c:spPr>
              <a:solidFill>
                <a:srgbClr val="E8A33D"/>
              </a:solidFill>
              <a:effectLst/>
            </c:spPr>
          </c:dPt>
          <c:dPt>
            <c:idx val="3"/>
            <c:invertIfNegative val="0"/>
            <c:bubble3D val="0"/>
            <c:spPr>
              <a:solidFill>
                <a:srgbClr val="E8A33D"/>
              </a:solidFill>
              <a:effectLst/>
            </c:spPr>
          </c:dPt>
          <c:dPt>
            <c:idx val="4"/>
            <c:invertIfNegative val="0"/>
            <c:bubble3D val="0"/>
            <c:spPr>
              <a:solidFill>
                <a:srgbClr val="1E2761"/>
              </a:solidFill>
              <a:effectLst/>
            </c:spPr>
          </c:dPt>
          <c:cat>
            <c:multiLvlStrRef>
              <c:f>Sheet1!$A$2:$A$6</c:f>
              <c:multiLvlStrCache>
                <c:ptCount val="5"/>
                <c:lvl>
                  <c:pt idx="0">
                    <c:v>Electronic check</c:v>
                  </c:pt>
                  <c:pt idx="1">
                    <c:v>Month-to-month</c:v>
                  </c:pt>
                  <c:pt idx="2">
                    <c:v>No tech support</c:v>
                  </c:pt>
                  <c:pt idx="3">
                    <c:v>Fiber optic</c:v>
                  </c:pt>
                  <c:pt idx="4">
                    <c:v>Company average</c:v>
                  </c:pt>
                </c:lvl>
              </c:multiLvlStrCache>
            </c:multiLvlStrRef>
          </c:cat>
          <c:val>
            <c:numRef>
              <c:f>Sheet1!$B$2:$B$6</c:f>
              <c:numCache>
                <c:formatCode>General</c:formatCode>
                <c:ptCount val="5"/>
                <c:pt idx="0">
                  <c:v>45</c:v>
                </c:pt>
                <c:pt idx="1">
                  <c:v>43</c:v>
                </c:pt>
                <c:pt idx="2">
                  <c:v>42</c:v>
                </c:pt>
                <c:pt idx="3">
                  <c:v>42</c:v>
                </c:pt>
                <c:pt idx="4">
                  <c:v>27</c:v>
                </c:pt>
              </c:numCache>
            </c:numRef>
          </c:val>
        </c:ser>
        <c:dLbls>
          <c:numFmt formatCode="#,##0" sourceLinked="0"/>
          <c:txPr>
            <a:bodyPr/>
            <a:lstStyle/>
            <a:p>
              <a:pPr>
                <a:defRPr b="1" i="0" strike="noStrike" sz="1200" u="none">
                  <a:solidFill>
                    <a:srgbClr val="1E2761"/>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2F3A"/>
                </a:solidFill>
                <a:latin typeface="Calibri"/>
              </a:defRPr>
            </a:pPr>
            <a:endParaRPr lang="en-US"/>
          </a:p>
        </c:txPr>
        <c:crossAx val="2094734552"/>
        <c:crosses val="autoZero"/>
        <c:auto val="1"/>
        <c:lblAlgn val="ctr"/>
        <c:noMultiLvlLbl val="1"/>
      </c:catAx>
      <c:valAx>
        <c:axId val="2094734552"/>
        <c:scaling>
          <c:orientation val="minMax"/>
          <c:max val="5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We had a churn problem, customers were leaving. I built something that tells us who is about to leave, so we can do something before they go. I'll keep it short: the value, why people leave, and what I'd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main point first. Keeping a customer is way cheaper than getting a new one. What I built ranks every customer by how likely they are to leave next quarter. The chart on the right is the important bit. If we send offers to the top of that list, about 77 out of 100 would really have left. If we just pick people at random, it's only 27. So the model is almost 3 times better than guessing. And we don't have to contact everyone, we go down the list as far as the budget allows, and there's a point where giving more offers stops being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why do people leave. Two things to know. First, this isn't a guess. Two different methods landed on the same answer, so I trust it. The biggest one by far is the contract. Month-to-month customers leave a lot, the ones locked in barely do. After that it's new customers in their first months, people on fiber, and people paying by electronic check. The box on the right is basically what a customer about to leave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would I actually do. Top one, and it's the biggest by far: get month-to-month people onto yearly contracts, because locked-in customers almost never leave. Second, something is off with fiber, it loses way more people than DSL, so look at the price and the service. Third, move the electronic-check payers onto auto-pay. Fourth, take care of new customers in the first few months, that's when most of them go. And last, when we run a campaign, keep a small group we don't touch, so we can actually prove it worked and see how much money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We can already find 3 out of 4 leavers on our top list. I'd say let's try it on the next campaign, keep that small control group, and look at the result in money, not just accuracy. Then we keep the model fresh every quarter.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1371600"/>
            <a:ext cx="7680960" cy="320040"/>
          </a:xfrm>
          <a:prstGeom prst="rect">
            <a:avLst/>
          </a:prstGeom>
          <a:noFill/>
          <a:ln/>
        </p:spPr>
        <p:txBody>
          <a:bodyPr wrap="square" lIns="0" tIns="0" rIns="0" bIns="0" rtlCol="0" anchor="ctr"/>
          <a:lstStyle/>
          <a:p>
            <a:pPr indent="0" marL="0">
              <a:buNone/>
            </a:pPr>
            <a:r>
              <a:rPr lang="en-US" sz="1300" b="1" spc="400" kern="0" dirty="0">
                <a:solidFill>
                  <a:srgbClr val="E8A33D"/>
                </a:solidFill>
                <a:latin typeface="Calibri" pitchFamily="34" charset="0"/>
                <a:ea typeface="Calibri" pitchFamily="34" charset="-122"/>
                <a:cs typeface="Calibri" pitchFamily="34" charset="-120"/>
              </a:rPr>
              <a:t>AI EXPLOITATION &amp; INNOVATION</a:t>
            </a:r>
            <a:endParaRPr lang="en-US" sz="1300" dirty="0"/>
          </a:p>
        </p:txBody>
      </p:sp>
      <p:sp>
        <p:nvSpPr>
          <p:cNvPr id="3" name="Text 1"/>
          <p:cNvSpPr/>
          <p:nvPr/>
        </p:nvSpPr>
        <p:spPr>
          <a:xfrm>
            <a:off x="731520" y="1737360"/>
            <a:ext cx="768096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Predicting Customer Churn</a:t>
            </a:r>
            <a:endParaRPr lang="en-US" sz="4600" dirty="0"/>
          </a:p>
        </p:txBody>
      </p:sp>
      <p:sp>
        <p:nvSpPr>
          <p:cNvPr id="4" name="Text 2"/>
          <p:cNvSpPr/>
          <p:nvPr/>
        </p:nvSpPr>
        <p:spPr>
          <a:xfrm>
            <a:off x="731520" y="2697480"/>
            <a:ext cx="7680960" cy="45720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Finding the customers about to leave - before they do</a:t>
            </a:r>
            <a:endParaRPr lang="en-US" sz="1900" dirty="0"/>
          </a:p>
        </p:txBody>
      </p:sp>
      <p:sp>
        <p:nvSpPr>
          <p:cNvPr id="5" name="Shape 3"/>
          <p:cNvSpPr/>
          <p:nvPr/>
        </p:nvSpPr>
        <p:spPr>
          <a:xfrm>
            <a:off x="749808" y="3337560"/>
            <a:ext cx="1554480" cy="0"/>
          </a:xfrm>
          <a:prstGeom prst="line">
            <a:avLst/>
          </a:prstGeom>
          <a:noFill/>
          <a:ln w="31750">
            <a:solidFill>
              <a:srgbClr val="E8A33D"/>
            </a:solidFill>
            <a:prstDash val="solid"/>
          </a:ln>
        </p:spPr>
      </p:sp>
      <p:sp>
        <p:nvSpPr>
          <p:cNvPr id="6" name="Text 4"/>
          <p:cNvSpPr/>
          <p:nvPr/>
        </p:nvSpPr>
        <p:spPr>
          <a:xfrm>
            <a:off x="731520" y="3474720"/>
            <a:ext cx="7680960" cy="365760"/>
          </a:xfrm>
          <a:prstGeom prst="rect">
            <a:avLst/>
          </a:prstGeom>
          <a:noFill/>
          <a:ln/>
        </p:spPr>
        <p:txBody>
          <a:bodyPr wrap="square" lIns="0" tIns="0" rIns="0" bIns="0" rtlCol="0" anchor="ctr"/>
          <a:lstStyle/>
          <a:p>
            <a:pPr indent="0" marL="0">
              <a:buNone/>
            </a:pPr>
            <a:r>
              <a:rPr lang="en-US" sz="1400" dirty="0">
                <a:solidFill>
                  <a:srgbClr val="9FB0D8"/>
                </a:solidFill>
                <a:latin typeface="Calibri" pitchFamily="34" charset="0"/>
                <a:ea typeface="Calibri" pitchFamily="34" charset="-122"/>
                <a:cs typeface="Calibri" pitchFamily="34" charset="-120"/>
              </a:rPr>
              <a:t>Daniel Lutziger   |   18.06.2026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150" b="1" spc="300" kern="0" dirty="0">
                <a:solidFill>
                  <a:srgbClr val="E8A33D"/>
                </a:solidFill>
                <a:latin typeface="Calibri" pitchFamily="34" charset="0"/>
                <a:ea typeface="Calibri" pitchFamily="34" charset="-122"/>
                <a:cs typeface="Calibri" pitchFamily="34" charset="-120"/>
              </a:rPr>
              <a:t>WHAT WE BUILT</a:t>
            </a:r>
            <a:endParaRPr lang="en-US" sz="1150" dirty="0"/>
          </a:p>
        </p:txBody>
      </p:sp>
      <p:sp>
        <p:nvSpPr>
          <p:cNvPr id="3" name="Text 1"/>
          <p:cNvSpPr/>
          <p:nvPr/>
        </p:nvSpPr>
        <p:spPr>
          <a:xfrm>
            <a:off x="502920" y="548640"/>
            <a:ext cx="82296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We can spend retention budget where it counts</a:t>
            </a:r>
            <a:endParaRPr lang="en-US" sz="3000" dirty="0"/>
          </a:p>
        </p:txBody>
      </p:sp>
      <p:sp>
        <p:nvSpPr>
          <p:cNvPr id="4" name="Text 2"/>
          <p:cNvSpPr/>
          <p:nvPr/>
        </p:nvSpPr>
        <p:spPr>
          <a:xfrm>
            <a:off x="502920" y="1371600"/>
            <a:ext cx="4572000" cy="1280160"/>
          </a:xfrm>
          <a:prstGeom prst="rect">
            <a:avLst/>
          </a:prstGeom>
          <a:noFill/>
          <a:ln/>
        </p:spPr>
        <p:txBody>
          <a:bodyPr wrap="square" lIns="0" tIns="0" rIns="0" bIns="0" rtlCol="0" anchor="ctr"/>
          <a:lstStyle/>
          <a:p>
            <a:pPr indent="0" marL="0">
              <a:lnSpc>
                <a:spcPct val="115000"/>
              </a:lnSpc>
              <a:buNone/>
            </a:pPr>
            <a:r>
              <a:rPr lang="en-US" sz="1550" dirty="0">
                <a:solidFill>
                  <a:srgbClr val="2B2F3A"/>
                </a:solidFill>
                <a:latin typeface="Calibri" pitchFamily="34" charset="0"/>
                <a:ea typeface="Calibri" pitchFamily="34" charset="-122"/>
                <a:cs typeface="Calibri" pitchFamily="34" charset="-120"/>
              </a:rPr>
              <a:t>Keeping a customer costs far less than winning a new one. The model ranks every customer by how likely they are to leave next quarter, so we contact the highest-risk first - as far as the budget goes, and no further than it pays off.</a:t>
            </a:r>
            <a:endParaRPr lang="en-US" sz="1550" dirty="0"/>
          </a:p>
        </p:txBody>
      </p:sp>
      <p:sp>
        <p:nvSpPr>
          <p:cNvPr id="5" name="Shape 3"/>
          <p:cNvSpPr/>
          <p:nvPr/>
        </p:nvSpPr>
        <p:spPr>
          <a:xfrm>
            <a:off x="502920" y="2788920"/>
            <a:ext cx="4572000" cy="1691640"/>
          </a:xfrm>
          <a:prstGeom prst="roundRect">
            <a:avLst>
              <a:gd name="adj" fmla="val 4324"/>
            </a:avLst>
          </a:prstGeom>
          <a:solidFill>
            <a:srgbClr val="1E2761"/>
          </a:solidFill>
          <a:ln/>
          <a:effectLst>
            <a:outerShdw sx="100000" sy="100000" kx="0" ky="0" algn="bl" rotWithShape="0" blurRad="88900" dist="38100" dir="5400000">
              <a:srgbClr val="1E2761">
                <a:alpha val="14000"/>
              </a:srgbClr>
            </a:outerShdw>
          </a:effectLst>
        </p:spPr>
      </p:sp>
      <p:sp>
        <p:nvSpPr>
          <p:cNvPr id="6" name="Text 4"/>
          <p:cNvSpPr/>
          <p:nvPr/>
        </p:nvSpPr>
        <p:spPr>
          <a:xfrm>
            <a:off x="640080" y="2944368"/>
            <a:ext cx="1828800" cy="1005840"/>
          </a:xfrm>
          <a:prstGeom prst="rect">
            <a:avLst/>
          </a:prstGeom>
          <a:noFill/>
          <a:ln/>
        </p:spPr>
        <p:txBody>
          <a:bodyPr wrap="square" lIns="0" tIns="0" rIns="0" bIns="0" rtlCol="0" anchor="ctr"/>
          <a:lstStyle/>
          <a:p>
            <a:pPr indent="0" marL="0">
              <a:buNone/>
            </a:pPr>
            <a:r>
              <a:rPr lang="en-US" sz="5800" b="1" dirty="0">
                <a:solidFill>
                  <a:srgbClr val="E8A33D"/>
                </a:solidFill>
                <a:latin typeface="Cambria" pitchFamily="34" charset="0"/>
                <a:ea typeface="Cambria" pitchFamily="34" charset="-122"/>
                <a:cs typeface="Cambria" pitchFamily="34" charset="-120"/>
              </a:rPr>
              <a:t>2.9x</a:t>
            </a:r>
            <a:endParaRPr lang="en-US" sz="5800" dirty="0"/>
          </a:p>
        </p:txBody>
      </p:sp>
      <p:sp>
        <p:nvSpPr>
          <p:cNvPr id="7" name="Text 5"/>
          <p:cNvSpPr/>
          <p:nvPr/>
        </p:nvSpPr>
        <p:spPr>
          <a:xfrm>
            <a:off x="2514600" y="2999232"/>
            <a:ext cx="2423160" cy="128016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libri" pitchFamily="34" charset="0"/>
                <a:ea typeface="Calibri" pitchFamily="34" charset="-122"/>
                <a:cs typeface="Calibri" pitchFamily="34" charset="-120"/>
              </a:rPr>
              <a:t>more leavers found</a:t>
            </a:r>
            <a:endParaRPr lang="en-US" sz="1500" dirty="0"/>
          </a:p>
          <a:p>
            <a:pPr indent="0" marL="0">
              <a:lnSpc>
                <a:spcPct val="105000"/>
              </a:lnSpc>
              <a:buNone/>
            </a:pPr>
            <a:r>
              <a:rPr lang="en-US" sz="1500" dirty="0">
                <a:solidFill>
                  <a:srgbClr val="FFFFFF"/>
                </a:solidFill>
                <a:latin typeface="Calibri" pitchFamily="34" charset="0"/>
                <a:ea typeface="Calibri" pitchFamily="34" charset="-122"/>
                <a:cs typeface="Calibri" pitchFamily="34" charset="-120"/>
              </a:rPr>
              <a:t>than contacting customers at random</a:t>
            </a:r>
            <a:endParaRPr lang="en-US" sz="1500" dirty="0"/>
          </a:p>
        </p:txBody>
      </p:sp>
      <p:sp>
        <p:nvSpPr>
          <p:cNvPr id="8" name="Text 6"/>
          <p:cNvSpPr/>
          <p:nvPr/>
        </p:nvSpPr>
        <p:spPr>
          <a:xfrm>
            <a:off x="5440680" y="1325880"/>
            <a:ext cx="3291840" cy="45720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Real leavers found per 100 customers contacted</a:t>
            </a:r>
            <a:endParaRPr lang="en-US" sz="1300" dirty="0"/>
          </a:p>
        </p:txBody>
      </p:sp>
      <p:graphicFrame>
        <p:nvGraphicFramePr>
          <p:cNvPr id="9" name="Chart 0" descr=""/>
          <p:cNvGraphicFramePr/>
          <p:nvPr/>
        </p:nvGraphicFramePr>
        <p:xfrm>
          <a:off x="5440680" y="1783080"/>
          <a:ext cx="3246120" cy="269748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5440680" y="4526280"/>
            <a:ext cx="3291840" cy="27432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Model discrimination: ROC-AUC 0.84   |   base churn rate 26.5%</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150" b="1" spc="300" kern="0" dirty="0">
                <a:solidFill>
                  <a:srgbClr val="E8A33D"/>
                </a:solidFill>
                <a:latin typeface="Calibri" pitchFamily="34" charset="0"/>
                <a:ea typeface="Calibri" pitchFamily="34" charset="-122"/>
                <a:cs typeface="Calibri" pitchFamily="34" charset="-120"/>
              </a:rPr>
              <a:t>WHAT THE ANALYSIS SHOWS</a:t>
            </a:r>
            <a:endParaRPr lang="en-US" sz="1150" dirty="0"/>
          </a:p>
        </p:txBody>
      </p:sp>
      <p:sp>
        <p:nvSpPr>
          <p:cNvPr id="3" name="Text 1"/>
          <p:cNvSpPr/>
          <p:nvPr/>
        </p:nvSpPr>
        <p:spPr>
          <a:xfrm>
            <a:off x="502920" y="548640"/>
            <a:ext cx="82296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Who is at risk - and why</a:t>
            </a:r>
            <a:endParaRPr lang="en-US" sz="3000" dirty="0"/>
          </a:p>
        </p:txBody>
      </p:sp>
      <p:sp>
        <p:nvSpPr>
          <p:cNvPr id="4" name="Text 2"/>
          <p:cNvSpPr/>
          <p:nvPr/>
        </p:nvSpPr>
        <p:spPr>
          <a:xfrm>
            <a:off x="502920" y="1325880"/>
            <a:ext cx="493776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Share of customers who leave, by the strongest risk factors</a:t>
            </a:r>
            <a:endParaRPr lang="en-US" sz="1300" dirty="0"/>
          </a:p>
        </p:txBody>
      </p:sp>
      <p:graphicFrame>
        <p:nvGraphicFramePr>
          <p:cNvPr id="5" name="Chart 0" descr=""/>
          <p:cNvGraphicFramePr/>
          <p:nvPr/>
        </p:nvGraphicFramePr>
        <p:xfrm>
          <a:off x="457200" y="1691640"/>
          <a:ext cx="5029200" cy="31089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554480"/>
            <a:ext cx="2971800" cy="3063240"/>
          </a:xfrm>
          <a:prstGeom prst="roundRect">
            <a:avLst>
              <a:gd name="adj" fmla="val 2462"/>
            </a:avLst>
          </a:prstGeom>
          <a:solidFill>
            <a:srgbClr val="F3F5FA"/>
          </a:solidFill>
          <a:ln/>
          <a:effectLst>
            <a:outerShdw sx="100000" sy="100000" kx="0" ky="0" algn="bl" rotWithShape="0" blurRad="88900" dist="38100" dir="5400000">
              <a:srgbClr val="1E2761">
                <a:alpha val="14000"/>
              </a:srgbClr>
            </a:outerShdw>
          </a:effectLst>
        </p:spPr>
      </p:sp>
      <p:sp>
        <p:nvSpPr>
          <p:cNvPr id="7" name="Text 4"/>
          <p:cNvSpPr/>
          <p:nvPr/>
        </p:nvSpPr>
        <p:spPr>
          <a:xfrm>
            <a:off x="5989320" y="1783080"/>
            <a:ext cx="256032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THE AT-RISK CUSTOMER</a:t>
            </a:r>
            <a:endParaRPr lang="en-US" sz="1200" dirty="0"/>
          </a:p>
        </p:txBody>
      </p:sp>
      <p:sp>
        <p:nvSpPr>
          <p:cNvPr id="8" name="Text 5"/>
          <p:cNvSpPr/>
          <p:nvPr/>
        </p:nvSpPr>
        <p:spPr>
          <a:xfrm>
            <a:off x="5989320" y="2194560"/>
            <a:ext cx="2560320" cy="2286000"/>
          </a:xfrm>
          <a:prstGeom prst="rect">
            <a:avLst/>
          </a:prstGeom>
          <a:noFill/>
          <a:ln/>
        </p:spPr>
        <p:txBody>
          <a:bodyPr wrap="square" lIns="0" tIns="0" rIns="0" bIns="0" rtlCol="0" anchor="ctr"/>
          <a:lstStyle/>
          <a:p>
            <a:pPr marL="342900" indent="-342900">
              <a:spcAft>
                <a:spcPts val="1000"/>
              </a:spcAft>
              <a:buSzPct val="100000"/>
              <a:buChar char="•"/>
            </a:pPr>
            <a:r>
              <a:rPr lang="en-US" sz="1450" dirty="0">
                <a:solidFill>
                  <a:srgbClr val="2B2F3A"/>
                </a:solidFill>
                <a:latin typeface="Calibri" pitchFamily="34" charset="0"/>
                <a:ea typeface="Calibri" pitchFamily="34" charset="-122"/>
                <a:cs typeface="Calibri" pitchFamily="34" charset="-120"/>
              </a:rPr>
              <a:t>On a month-to-month contract</a:t>
            </a:r>
            <a:endParaRPr lang="en-US" sz="1450" dirty="0"/>
          </a:p>
          <a:p>
            <a:pPr marL="342900" indent="-342900">
              <a:spcAft>
                <a:spcPts val="1000"/>
              </a:spcAft>
              <a:buSzPct val="100000"/>
              <a:buChar char="•"/>
            </a:pPr>
            <a:r>
              <a:rPr lang="en-US" sz="1450" dirty="0">
                <a:solidFill>
                  <a:srgbClr val="2B2F3A"/>
                </a:solidFill>
                <a:latin typeface="Calibri" pitchFamily="34" charset="0"/>
                <a:ea typeface="Calibri" pitchFamily="34" charset="-122"/>
                <a:cs typeface="Calibri" pitchFamily="34" charset="-120"/>
              </a:rPr>
              <a:t>New - in their first few months</a:t>
            </a:r>
            <a:endParaRPr lang="en-US" sz="1450" dirty="0"/>
          </a:p>
          <a:p>
            <a:pPr marL="342900" indent="-342900">
              <a:spcAft>
                <a:spcPts val="1000"/>
              </a:spcAft>
              <a:buSzPct val="100000"/>
              <a:buChar char="•"/>
            </a:pPr>
            <a:r>
              <a:rPr lang="en-US" sz="1450" dirty="0">
                <a:solidFill>
                  <a:srgbClr val="2B2F3A"/>
                </a:solidFill>
                <a:latin typeface="Calibri" pitchFamily="34" charset="0"/>
                <a:ea typeface="Calibri" pitchFamily="34" charset="-122"/>
                <a:cs typeface="Calibri" pitchFamily="34" charset="-120"/>
              </a:rPr>
              <a:t>On a fiber-optic plan</a:t>
            </a:r>
            <a:endParaRPr lang="en-US" sz="1450" dirty="0"/>
          </a:p>
          <a:p>
            <a:pPr marL="342900" indent="-342900">
              <a:spcAft>
                <a:spcPts val="1000"/>
              </a:spcAft>
              <a:buSzPct val="100000"/>
              <a:buChar char="•"/>
            </a:pPr>
            <a:r>
              <a:rPr lang="en-US" sz="1450" dirty="0">
                <a:solidFill>
                  <a:srgbClr val="2B2F3A"/>
                </a:solidFill>
                <a:latin typeface="Calibri" pitchFamily="34" charset="0"/>
                <a:ea typeface="Calibri" pitchFamily="34" charset="-122"/>
                <a:cs typeface="Calibri" pitchFamily="34" charset="-120"/>
              </a:rPr>
              <a:t>Pays by electronic check</a:t>
            </a:r>
            <a:endParaRPr lang="en-US" sz="1450" dirty="0"/>
          </a:p>
          <a:p>
            <a:pPr marL="342900" indent="-342900">
              <a:spcAft>
                <a:spcPts val="1000"/>
              </a:spcAft>
              <a:buSzPct val="100000"/>
              <a:buChar char="•"/>
            </a:pPr>
            <a:r>
              <a:rPr lang="en-US" sz="1450" dirty="0">
                <a:solidFill>
                  <a:srgbClr val="2B2F3A"/>
                </a:solidFill>
                <a:latin typeface="Calibri" pitchFamily="34" charset="0"/>
                <a:ea typeface="Calibri" pitchFamily="34" charset="-122"/>
                <a:cs typeface="Calibri" pitchFamily="34" charset="-120"/>
              </a:rPr>
              <a:t>Has no tech-support / security add-ons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150" b="1" spc="300" kern="0" dirty="0">
                <a:solidFill>
                  <a:srgbClr val="E8A33D"/>
                </a:solidFill>
                <a:latin typeface="Calibri" pitchFamily="34" charset="0"/>
                <a:ea typeface="Calibri" pitchFamily="34" charset="-122"/>
                <a:cs typeface="Calibri" pitchFamily="34" charset="-120"/>
              </a:rPr>
              <a:t>RECOMMENDATIONS</a:t>
            </a:r>
            <a:endParaRPr lang="en-US" sz="1150" dirty="0"/>
          </a:p>
        </p:txBody>
      </p:sp>
      <p:sp>
        <p:nvSpPr>
          <p:cNvPr id="3" name="Text 1"/>
          <p:cNvSpPr/>
          <p:nvPr/>
        </p:nvSpPr>
        <p:spPr>
          <a:xfrm>
            <a:off x="502920" y="548640"/>
            <a:ext cx="822960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I would do</a:t>
            </a:r>
            <a:endParaRPr lang="en-US" sz="3000" dirty="0"/>
          </a:p>
        </p:txBody>
      </p:sp>
      <p:sp>
        <p:nvSpPr>
          <p:cNvPr id="4" name="Shape 2"/>
          <p:cNvSpPr/>
          <p:nvPr/>
        </p:nvSpPr>
        <p:spPr>
          <a:xfrm>
            <a:off x="502920" y="1325880"/>
            <a:ext cx="8138160" cy="676656"/>
          </a:xfrm>
          <a:prstGeom prst="roundRect">
            <a:avLst>
              <a:gd name="adj" fmla="val 8108"/>
            </a:avLst>
          </a:prstGeom>
          <a:solidFill>
            <a:srgbClr val="F3F5FA"/>
          </a:solidFill>
          <a:ln/>
        </p:spPr>
      </p:sp>
      <p:sp>
        <p:nvSpPr>
          <p:cNvPr id="5" name="Shape 3"/>
          <p:cNvSpPr/>
          <p:nvPr/>
        </p:nvSpPr>
        <p:spPr>
          <a:xfrm>
            <a:off x="658368" y="1435608"/>
            <a:ext cx="457200" cy="457200"/>
          </a:xfrm>
          <a:prstGeom prst="ellipse">
            <a:avLst/>
          </a:prstGeom>
          <a:solidFill>
            <a:srgbClr val="CADCFC"/>
          </a:solidFill>
          <a:ln/>
        </p:spPr>
      </p:sp>
      <p:pic>
        <p:nvPicPr>
          <p:cNvPr id="6" name="Image 0" descr="preencoded.png">    </p:cNvPr>
          <p:cNvPicPr>
            <a:picLocks noChangeAspect="1"/>
          </p:cNvPicPr>
          <p:nvPr/>
        </p:nvPicPr>
        <p:blipFill>
          <a:blip r:embed="rId1"/>
          <a:stretch>
            <a:fillRect/>
          </a:stretch>
        </p:blipFill>
        <p:spPr>
          <a:xfrm>
            <a:off x="768096" y="1554480"/>
            <a:ext cx="237744" cy="237744"/>
          </a:xfrm>
          <a:prstGeom prst="rect">
            <a:avLst/>
          </a:prstGeom>
        </p:spPr>
      </p:pic>
      <p:sp>
        <p:nvSpPr>
          <p:cNvPr id="7" name="Text 4"/>
          <p:cNvSpPr/>
          <p:nvPr/>
        </p:nvSpPr>
        <p:spPr>
          <a:xfrm>
            <a:off x="1325880" y="1399032"/>
            <a:ext cx="7178040"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Move month-to-month customers to yearly contracts</a:t>
            </a:r>
            <a:endParaRPr lang="en-US" sz="1450" dirty="0"/>
          </a:p>
        </p:txBody>
      </p:sp>
      <p:sp>
        <p:nvSpPr>
          <p:cNvPr id="8" name="Text 5"/>
          <p:cNvSpPr/>
          <p:nvPr/>
        </p:nvSpPr>
        <p:spPr>
          <a:xfrm>
            <a:off x="1325880" y="1673352"/>
            <a:ext cx="7178040" cy="274320"/>
          </a:xfrm>
          <a:prstGeom prst="rect">
            <a:avLst/>
          </a:prstGeom>
          <a:noFill/>
          <a:ln/>
        </p:spPr>
        <p:txBody>
          <a:bodyPr wrap="square" lIns="0" tIns="0" rIns="0" bIns="0" rtlCol="0" anchor="ctr"/>
          <a:lstStyle/>
          <a:p>
            <a:pPr indent="0" marL="0">
              <a:buNone/>
            </a:pPr>
            <a:r>
              <a:rPr lang="en-US" sz="1150" dirty="0">
                <a:solidFill>
                  <a:srgbClr val="2B2F3A"/>
                </a:solidFill>
                <a:latin typeface="Calibri" pitchFamily="34" charset="0"/>
                <a:ea typeface="Calibri" pitchFamily="34" charset="-122"/>
                <a:cs typeface="Calibri" pitchFamily="34" charset="-120"/>
              </a:rPr>
              <a:t>The biggest lever by far - locked-in customers barely leave. Give them a reason to commit.</a:t>
            </a:r>
            <a:endParaRPr lang="en-US" sz="1150" dirty="0"/>
          </a:p>
        </p:txBody>
      </p:sp>
      <p:sp>
        <p:nvSpPr>
          <p:cNvPr id="9" name="Shape 6"/>
          <p:cNvSpPr/>
          <p:nvPr/>
        </p:nvSpPr>
        <p:spPr>
          <a:xfrm>
            <a:off x="502920" y="2048256"/>
            <a:ext cx="8138160" cy="676656"/>
          </a:xfrm>
          <a:prstGeom prst="roundRect">
            <a:avLst>
              <a:gd name="adj" fmla="val 8108"/>
            </a:avLst>
          </a:prstGeom>
          <a:solidFill>
            <a:srgbClr val="F3F5FA"/>
          </a:solidFill>
          <a:ln/>
        </p:spPr>
      </p:sp>
      <p:sp>
        <p:nvSpPr>
          <p:cNvPr id="10" name="Shape 7"/>
          <p:cNvSpPr/>
          <p:nvPr/>
        </p:nvSpPr>
        <p:spPr>
          <a:xfrm>
            <a:off x="658368" y="2157984"/>
            <a:ext cx="457200" cy="457200"/>
          </a:xfrm>
          <a:prstGeom prst="ellipse">
            <a:avLst/>
          </a:prstGeom>
          <a:solidFill>
            <a:srgbClr val="CADCFC"/>
          </a:solidFill>
          <a:ln/>
        </p:spPr>
      </p:sp>
      <p:pic>
        <p:nvPicPr>
          <p:cNvPr id="11" name="Image 1" descr="preencoded.png">    </p:cNvPr>
          <p:cNvPicPr>
            <a:picLocks noChangeAspect="1"/>
          </p:cNvPicPr>
          <p:nvPr/>
        </p:nvPicPr>
        <p:blipFill>
          <a:blip r:embed="rId2"/>
          <a:stretch>
            <a:fillRect/>
          </a:stretch>
        </p:blipFill>
        <p:spPr>
          <a:xfrm>
            <a:off x="768096" y="2276856"/>
            <a:ext cx="237744" cy="237744"/>
          </a:xfrm>
          <a:prstGeom prst="rect">
            <a:avLst/>
          </a:prstGeom>
        </p:spPr>
      </p:pic>
      <p:sp>
        <p:nvSpPr>
          <p:cNvPr id="12" name="Text 8"/>
          <p:cNvSpPr/>
          <p:nvPr/>
        </p:nvSpPr>
        <p:spPr>
          <a:xfrm>
            <a:off x="1325880" y="2121408"/>
            <a:ext cx="7178040"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Look into fiber</a:t>
            </a:r>
            <a:endParaRPr lang="en-US" sz="1450" dirty="0"/>
          </a:p>
        </p:txBody>
      </p:sp>
      <p:sp>
        <p:nvSpPr>
          <p:cNvPr id="13" name="Text 9"/>
          <p:cNvSpPr/>
          <p:nvPr/>
        </p:nvSpPr>
        <p:spPr>
          <a:xfrm>
            <a:off x="1325880" y="2395728"/>
            <a:ext cx="7178040" cy="274320"/>
          </a:xfrm>
          <a:prstGeom prst="rect">
            <a:avLst/>
          </a:prstGeom>
          <a:noFill/>
          <a:ln/>
        </p:spPr>
        <p:txBody>
          <a:bodyPr wrap="square" lIns="0" tIns="0" rIns="0" bIns="0" rtlCol="0" anchor="ctr"/>
          <a:lstStyle/>
          <a:p>
            <a:pPr indent="0" marL="0">
              <a:buNone/>
            </a:pPr>
            <a:r>
              <a:rPr lang="en-US" sz="1150" dirty="0">
                <a:solidFill>
                  <a:srgbClr val="2B2F3A"/>
                </a:solidFill>
                <a:latin typeface="Calibri" pitchFamily="34" charset="0"/>
                <a:ea typeface="Calibri" pitchFamily="34" charset="-122"/>
                <a:cs typeface="Calibri" pitchFamily="34" charset="-120"/>
              </a:rPr>
              <a:t>Fiber leaves at 42% vs 19% on DSL. Something is off - check the price and the service.</a:t>
            </a:r>
            <a:endParaRPr lang="en-US" sz="1150" dirty="0"/>
          </a:p>
        </p:txBody>
      </p:sp>
      <p:sp>
        <p:nvSpPr>
          <p:cNvPr id="14" name="Shape 10"/>
          <p:cNvSpPr/>
          <p:nvPr/>
        </p:nvSpPr>
        <p:spPr>
          <a:xfrm>
            <a:off x="502920" y="2770632"/>
            <a:ext cx="8138160" cy="676656"/>
          </a:xfrm>
          <a:prstGeom prst="roundRect">
            <a:avLst>
              <a:gd name="adj" fmla="val 8108"/>
            </a:avLst>
          </a:prstGeom>
          <a:solidFill>
            <a:srgbClr val="F3F5FA"/>
          </a:solidFill>
          <a:ln/>
        </p:spPr>
      </p:sp>
      <p:sp>
        <p:nvSpPr>
          <p:cNvPr id="15" name="Shape 11"/>
          <p:cNvSpPr/>
          <p:nvPr/>
        </p:nvSpPr>
        <p:spPr>
          <a:xfrm>
            <a:off x="658368" y="2880360"/>
            <a:ext cx="457200" cy="457200"/>
          </a:xfrm>
          <a:prstGeom prst="ellipse">
            <a:avLst/>
          </a:prstGeom>
          <a:solidFill>
            <a:srgbClr val="CADCFC"/>
          </a:solidFill>
          <a:ln/>
        </p:spPr>
      </p:sp>
      <p:pic>
        <p:nvPicPr>
          <p:cNvPr id="16" name="Image 2" descr="preencoded.png">    </p:cNvPr>
          <p:cNvPicPr>
            <a:picLocks noChangeAspect="1"/>
          </p:cNvPicPr>
          <p:nvPr/>
        </p:nvPicPr>
        <p:blipFill>
          <a:blip r:embed="rId3"/>
          <a:stretch>
            <a:fillRect/>
          </a:stretch>
        </p:blipFill>
        <p:spPr>
          <a:xfrm>
            <a:off x="768096" y="2999232"/>
            <a:ext cx="237744" cy="237744"/>
          </a:xfrm>
          <a:prstGeom prst="rect">
            <a:avLst/>
          </a:prstGeom>
        </p:spPr>
      </p:pic>
      <p:sp>
        <p:nvSpPr>
          <p:cNvPr id="17" name="Text 12"/>
          <p:cNvSpPr/>
          <p:nvPr/>
        </p:nvSpPr>
        <p:spPr>
          <a:xfrm>
            <a:off x="1325880" y="2843784"/>
            <a:ext cx="7178040"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Move electronic-check payers to auto-pay</a:t>
            </a:r>
            <a:endParaRPr lang="en-US" sz="1450" dirty="0"/>
          </a:p>
        </p:txBody>
      </p:sp>
      <p:sp>
        <p:nvSpPr>
          <p:cNvPr id="18" name="Text 13"/>
          <p:cNvSpPr/>
          <p:nvPr/>
        </p:nvSpPr>
        <p:spPr>
          <a:xfrm>
            <a:off x="1325880" y="3118104"/>
            <a:ext cx="7178040" cy="274320"/>
          </a:xfrm>
          <a:prstGeom prst="rect">
            <a:avLst/>
          </a:prstGeom>
          <a:noFill/>
          <a:ln/>
        </p:spPr>
        <p:txBody>
          <a:bodyPr wrap="square" lIns="0" tIns="0" rIns="0" bIns="0" rtlCol="0" anchor="ctr"/>
          <a:lstStyle/>
          <a:p>
            <a:pPr indent="0" marL="0">
              <a:buNone/>
            </a:pPr>
            <a:r>
              <a:rPr lang="en-US" sz="1150" dirty="0">
                <a:solidFill>
                  <a:srgbClr val="2B2F3A"/>
                </a:solidFill>
                <a:latin typeface="Calibri" pitchFamily="34" charset="0"/>
                <a:ea typeface="Calibri" pitchFamily="34" charset="-122"/>
                <a:cs typeface="Calibri" pitchFamily="34" charset="-120"/>
              </a:rPr>
              <a:t>The worst payment method (45%). Take the friction out of paying the bill.</a:t>
            </a:r>
            <a:endParaRPr lang="en-US" sz="1150" dirty="0"/>
          </a:p>
        </p:txBody>
      </p:sp>
      <p:sp>
        <p:nvSpPr>
          <p:cNvPr id="19" name="Shape 14"/>
          <p:cNvSpPr/>
          <p:nvPr/>
        </p:nvSpPr>
        <p:spPr>
          <a:xfrm>
            <a:off x="502920" y="3493008"/>
            <a:ext cx="8138160" cy="676656"/>
          </a:xfrm>
          <a:prstGeom prst="roundRect">
            <a:avLst>
              <a:gd name="adj" fmla="val 8108"/>
            </a:avLst>
          </a:prstGeom>
          <a:solidFill>
            <a:srgbClr val="F3F5FA"/>
          </a:solidFill>
          <a:ln/>
        </p:spPr>
      </p:sp>
      <p:sp>
        <p:nvSpPr>
          <p:cNvPr id="20" name="Shape 15"/>
          <p:cNvSpPr/>
          <p:nvPr/>
        </p:nvSpPr>
        <p:spPr>
          <a:xfrm>
            <a:off x="658368" y="3602736"/>
            <a:ext cx="457200" cy="457200"/>
          </a:xfrm>
          <a:prstGeom prst="ellipse">
            <a:avLst/>
          </a:prstGeom>
          <a:solidFill>
            <a:srgbClr val="CADCFC"/>
          </a:solidFill>
          <a:ln/>
        </p:spPr>
      </p:sp>
      <p:pic>
        <p:nvPicPr>
          <p:cNvPr id="21" name="Image 3" descr="preencoded.png">    </p:cNvPr>
          <p:cNvPicPr>
            <a:picLocks noChangeAspect="1"/>
          </p:cNvPicPr>
          <p:nvPr/>
        </p:nvPicPr>
        <p:blipFill>
          <a:blip r:embed="rId4"/>
          <a:stretch>
            <a:fillRect/>
          </a:stretch>
        </p:blipFill>
        <p:spPr>
          <a:xfrm>
            <a:off x="768096" y="3721608"/>
            <a:ext cx="237744" cy="237744"/>
          </a:xfrm>
          <a:prstGeom prst="rect">
            <a:avLst/>
          </a:prstGeom>
        </p:spPr>
      </p:pic>
      <p:sp>
        <p:nvSpPr>
          <p:cNvPr id="22" name="Text 16"/>
          <p:cNvSpPr/>
          <p:nvPr/>
        </p:nvSpPr>
        <p:spPr>
          <a:xfrm>
            <a:off x="1325880" y="3566160"/>
            <a:ext cx="7178040"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Win the first few months</a:t>
            </a:r>
            <a:endParaRPr lang="en-US" sz="1450" dirty="0"/>
          </a:p>
        </p:txBody>
      </p:sp>
      <p:sp>
        <p:nvSpPr>
          <p:cNvPr id="23" name="Text 17"/>
          <p:cNvSpPr/>
          <p:nvPr/>
        </p:nvSpPr>
        <p:spPr>
          <a:xfrm>
            <a:off x="1325880" y="3840480"/>
            <a:ext cx="7178040" cy="274320"/>
          </a:xfrm>
          <a:prstGeom prst="rect">
            <a:avLst/>
          </a:prstGeom>
          <a:noFill/>
          <a:ln/>
        </p:spPr>
        <p:txBody>
          <a:bodyPr wrap="square" lIns="0" tIns="0" rIns="0" bIns="0" rtlCol="0" anchor="ctr"/>
          <a:lstStyle/>
          <a:p>
            <a:pPr indent="0" marL="0">
              <a:buNone/>
            </a:pPr>
            <a:r>
              <a:rPr lang="en-US" sz="1150" dirty="0">
                <a:solidFill>
                  <a:srgbClr val="2B2F3A"/>
                </a:solidFill>
                <a:latin typeface="Calibri" pitchFamily="34" charset="0"/>
                <a:ea typeface="Calibri" pitchFamily="34" charset="-122"/>
                <a:cs typeface="Calibri" pitchFamily="34" charset="-120"/>
              </a:rPr>
              <a:t>Most people leave early on. Put effort into onboarding and new customers.</a:t>
            </a:r>
            <a:endParaRPr lang="en-US" sz="1150" dirty="0"/>
          </a:p>
        </p:txBody>
      </p:sp>
      <p:sp>
        <p:nvSpPr>
          <p:cNvPr id="24" name="Shape 18"/>
          <p:cNvSpPr/>
          <p:nvPr/>
        </p:nvSpPr>
        <p:spPr>
          <a:xfrm>
            <a:off x="502920" y="4215384"/>
            <a:ext cx="8138160" cy="676656"/>
          </a:xfrm>
          <a:prstGeom prst="roundRect">
            <a:avLst>
              <a:gd name="adj" fmla="val 8108"/>
            </a:avLst>
          </a:prstGeom>
          <a:solidFill>
            <a:srgbClr val="F3F5FA"/>
          </a:solidFill>
          <a:ln/>
        </p:spPr>
      </p:sp>
      <p:sp>
        <p:nvSpPr>
          <p:cNvPr id="25" name="Shape 19"/>
          <p:cNvSpPr/>
          <p:nvPr/>
        </p:nvSpPr>
        <p:spPr>
          <a:xfrm>
            <a:off x="658368" y="4325112"/>
            <a:ext cx="457200" cy="457200"/>
          </a:xfrm>
          <a:prstGeom prst="ellipse">
            <a:avLst/>
          </a:prstGeom>
          <a:solidFill>
            <a:srgbClr val="CADCFC"/>
          </a:solidFill>
          <a:ln/>
        </p:spPr>
      </p:sp>
      <p:pic>
        <p:nvPicPr>
          <p:cNvPr id="26" name="Image 4" descr="preencoded.png">    </p:cNvPr>
          <p:cNvPicPr>
            <a:picLocks noChangeAspect="1"/>
          </p:cNvPicPr>
          <p:nvPr/>
        </p:nvPicPr>
        <p:blipFill>
          <a:blip r:embed="rId5"/>
          <a:stretch>
            <a:fillRect/>
          </a:stretch>
        </p:blipFill>
        <p:spPr>
          <a:xfrm>
            <a:off x="768096" y="4443984"/>
            <a:ext cx="237744" cy="237744"/>
          </a:xfrm>
          <a:prstGeom prst="rect">
            <a:avLst/>
          </a:prstGeom>
        </p:spPr>
      </p:pic>
      <p:sp>
        <p:nvSpPr>
          <p:cNvPr id="27" name="Text 20"/>
          <p:cNvSpPr/>
          <p:nvPr/>
        </p:nvSpPr>
        <p:spPr>
          <a:xfrm>
            <a:off x="1325880" y="4288536"/>
            <a:ext cx="7178040"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Keep a control group</a:t>
            </a:r>
            <a:endParaRPr lang="en-US" sz="1450" dirty="0"/>
          </a:p>
        </p:txBody>
      </p:sp>
      <p:sp>
        <p:nvSpPr>
          <p:cNvPr id="28" name="Text 21"/>
          <p:cNvSpPr/>
          <p:nvPr/>
        </p:nvSpPr>
        <p:spPr>
          <a:xfrm>
            <a:off x="1325880" y="4562856"/>
            <a:ext cx="7178040" cy="274320"/>
          </a:xfrm>
          <a:prstGeom prst="rect">
            <a:avLst/>
          </a:prstGeom>
          <a:noFill/>
          <a:ln/>
        </p:spPr>
        <p:txBody>
          <a:bodyPr wrap="square" lIns="0" tIns="0" rIns="0" bIns="0" rtlCol="0" anchor="ctr"/>
          <a:lstStyle/>
          <a:p>
            <a:pPr indent="0" marL="0">
              <a:buNone/>
            </a:pPr>
            <a:r>
              <a:rPr lang="en-US" sz="1150" dirty="0">
                <a:solidFill>
                  <a:srgbClr val="2B2F3A"/>
                </a:solidFill>
                <a:latin typeface="Calibri" pitchFamily="34" charset="0"/>
                <a:ea typeface="Calibri" pitchFamily="34" charset="-122"/>
                <a:cs typeface="Calibri" pitchFamily="34" charset="-120"/>
              </a:rPr>
              <a:t>Don't contact a small group on purpose, so we can prove it worked and see the money saved.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1325880"/>
            <a:ext cx="7680960" cy="320040"/>
          </a:xfrm>
          <a:prstGeom prst="rect">
            <a:avLst/>
          </a:prstGeom>
          <a:noFill/>
          <a:ln/>
        </p:spPr>
        <p:txBody>
          <a:bodyPr wrap="square" lIns="0" tIns="0" rIns="0" bIns="0" rtlCol="0" anchor="ctr"/>
          <a:lstStyle/>
          <a:p>
            <a:pPr indent="0" marL="0">
              <a:buNone/>
            </a:pPr>
            <a:r>
              <a:rPr lang="en-US" sz="1300" b="1" spc="400" kern="0" dirty="0">
                <a:solidFill>
                  <a:srgbClr val="E8A33D"/>
                </a:solidFill>
                <a:latin typeface="Calibri" pitchFamily="34" charset="0"/>
                <a:ea typeface="Calibri" pitchFamily="34" charset="-122"/>
                <a:cs typeface="Calibri" pitchFamily="34" charset="-120"/>
              </a:rPr>
              <a:t>FROM INSIGHT TO IMPACT</a:t>
            </a:r>
            <a:endParaRPr lang="en-US" sz="1300" dirty="0"/>
          </a:p>
        </p:txBody>
      </p:sp>
      <p:sp>
        <p:nvSpPr>
          <p:cNvPr id="3" name="Text 1"/>
          <p:cNvSpPr/>
          <p:nvPr/>
        </p:nvSpPr>
        <p:spPr>
          <a:xfrm>
            <a:off x="731520" y="1737360"/>
            <a:ext cx="7680960" cy="914400"/>
          </a:xfrm>
          <a:prstGeom prst="rect">
            <a:avLst/>
          </a:prstGeom>
          <a:noFill/>
          <a:ln/>
        </p:spPr>
        <p:txBody>
          <a:bodyPr wrap="square" lIns="0" tIns="0" rIns="0" bIns="0" rtlCol="0" anchor="ctr"/>
          <a:lstStyle/>
          <a:p>
            <a:pPr indent="0" marL="0">
              <a:lnSpc>
                <a:spcPct val="105000"/>
              </a:lnSpc>
              <a:buNone/>
            </a:pPr>
            <a:r>
              <a:rPr lang="en-US" sz="3200" b="1" dirty="0">
                <a:solidFill>
                  <a:srgbClr val="FFFFFF"/>
                </a:solidFill>
                <a:latin typeface="Cambria" pitchFamily="34" charset="0"/>
                <a:ea typeface="Cambria" pitchFamily="34" charset="-122"/>
                <a:cs typeface="Cambria" pitchFamily="34" charset="-120"/>
              </a:rPr>
              <a:t>We can already find 3 of every 4 leavers on our top list.</a:t>
            </a:r>
            <a:endParaRPr lang="en-US" sz="3200" dirty="0"/>
          </a:p>
        </p:txBody>
      </p:sp>
      <p:sp>
        <p:nvSpPr>
          <p:cNvPr id="4" name="Text 2"/>
          <p:cNvSpPr/>
          <p:nvPr/>
        </p:nvSpPr>
        <p:spPr>
          <a:xfrm>
            <a:off x="749808" y="2971800"/>
            <a:ext cx="7498080" cy="1463040"/>
          </a:xfrm>
          <a:prstGeom prst="rect">
            <a:avLst/>
          </a:prstGeom>
          <a:noFill/>
          <a:ln/>
        </p:spPr>
        <p:txBody>
          <a:bodyPr wrap="square" lIns="0" tIns="0" rIns="0" bIns="0" rtlCol="0" anchor="ctr"/>
          <a:lstStyle/>
          <a:p>
            <a:pPr marL="342900" indent="-342900">
              <a:spcAft>
                <a:spcPts val="900"/>
              </a:spcAft>
              <a:buSzPct val="100000"/>
              <a:buChar char="•"/>
            </a:pPr>
            <a:r>
              <a:rPr lang="en-US" sz="1600" dirty="0">
                <a:solidFill>
                  <a:srgbClr val="CADCFC"/>
                </a:solidFill>
                <a:latin typeface="Calibri" pitchFamily="34" charset="0"/>
                <a:ea typeface="Calibri" pitchFamily="34" charset="-122"/>
                <a:cs typeface="Calibri" pitchFamily="34" charset="-120"/>
              </a:rPr>
              <a:t>Try it on the next campaign, with a control group</a:t>
            </a:r>
            <a:endParaRPr lang="en-US" sz="1600" dirty="0"/>
          </a:p>
          <a:p>
            <a:pPr marL="342900" indent="-342900">
              <a:spcAft>
                <a:spcPts val="900"/>
              </a:spcAft>
              <a:buSzPct val="100000"/>
              <a:buChar char="•"/>
            </a:pPr>
            <a:r>
              <a:rPr lang="en-US" sz="1600" dirty="0">
                <a:solidFill>
                  <a:srgbClr val="CADCFC"/>
                </a:solidFill>
                <a:latin typeface="Calibri" pitchFamily="34" charset="0"/>
                <a:ea typeface="Calibri" pitchFamily="34" charset="-122"/>
                <a:cs typeface="Calibri" pitchFamily="34" charset="-120"/>
              </a:rPr>
              <a:t>Measure the result in money, not just accuracy</a:t>
            </a:r>
            <a:endParaRPr lang="en-US" sz="1600" dirty="0"/>
          </a:p>
          <a:p>
            <a:pPr marL="342900" indent="-342900">
              <a:spcAft>
                <a:spcPts val="900"/>
              </a:spcAft>
              <a:buSzPct val="100000"/>
              <a:buChar char="•"/>
            </a:pPr>
            <a:r>
              <a:rPr lang="en-US" sz="1600" dirty="0">
                <a:solidFill>
                  <a:srgbClr val="CADCFC"/>
                </a:solidFill>
                <a:latin typeface="Calibri" pitchFamily="34" charset="0"/>
                <a:ea typeface="Calibri" pitchFamily="34" charset="-122"/>
                <a:cs typeface="Calibri" pitchFamily="34" charset="-120"/>
              </a:rPr>
              <a:t>Refresh the model every quarter as new results come in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Customer Churn — Management Summary</dc:title>
  <dc:subject>PptxGenJS Presentation</dc:subject>
  <dc:creator>Daniel Lutziger</dc:creator>
  <cp:lastModifiedBy>Daniel Lutziger</cp:lastModifiedBy>
  <cp:revision>1</cp:revision>
  <dcterms:created xsi:type="dcterms:W3CDTF">2026-06-18T04:30:07Z</dcterms:created>
  <dcterms:modified xsi:type="dcterms:W3CDTF">2026-06-18T04:30:07Z</dcterms:modified>
</cp:coreProperties>
</file>